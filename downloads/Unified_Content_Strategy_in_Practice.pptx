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59a6c895da644ac" /><Relationship Type="http://schemas.openxmlformats.org/officeDocument/2006/relationships/extended-properties" Target="/docProps/app.xml" Id="R5c1a50f632e14e78" /><Relationship Type="http://schemas.openxmlformats.org/officeDocument/2006/relationships/officeDocument" Target="/ppt/presentation.xml" Id="Rd9ae2ebc4d0547e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3cc3f5ab54040c2"/>
  </p:sldMasterIdLst>
  <p:notesMasterIdLst>
    <p:notesMasterId xmlns:r="http://schemas.openxmlformats.org/officeDocument/2006/relationships" r:id="Raf58b23cd4674043"/>
  </p:notesMasterIdLst>
  <p:sldIdLst>
    <p:sldId xmlns:r="http://schemas.openxmlformats.org/officeDocument/2006/relationships" id="256" r:id="R8207b907634d412a"/>
    <p:sldId xmlns:r="http://schemas.openxmlformats.org/officeDocument/2006/relationships" id="257" r:id="R46e3c106fa2c459d"/>
    <p:sldId xmlns:r="http://schemas.openxmlformats.org/officeDocument/2006/relationships" id="258" r:id="R38b26a95c6e747a5"/>
    <p:sldId xmlns:r="http://schemas.openxmlformats.org/officeDocument/2006/relationships" id="259" r:id="Re153b29a28c740d8"/>
    <p:sldId xmlns:r="http://schemas.openxmlformats.org/officeDocument/2006/relationships" id="260" r:id="R13933309211642ba"/>
    <p:sldId xmlns:r="http://schemas.openxmlformats.org/officeDocument/2006/relationships" id="261" r:id="R104546bcb4c446b2"/>
    <p:sldId xmlns:r="http://schemas.openxmlformats.org/officeDocument/2006/relationships" id="262" r:id="Raf4951449c7c4bca"/>
    <p:sldId xmlns:r="http://schemas.openxmlformats.org/officeDocument/2006/relationships" id="263" r:id="Rc7ebbcfbea3a462e"/>
    <p:sldId xmlns:r="http://schemas.openxmlformats.org/officeDocument/2006/relationships" id="264" r:id="R7e84b8ea096845bd"/>
    <p:sldId xmlns:r="http://schemas.openxmlformats.org/officeDocument/2006/relationships" id="265" r:id="R8aa84fc1fae14b97"/>
    <p:sldId xmlns:r="http://schemas.openxmlformats.org/officeDocument/2006/relationships" id="266" r:id="Rb04bf01932b8468b"/>
    <p:sldId xmlns:r="http://schemas.openxmlformats.org/officeDocument/2006/relationships" id="267" r:id="Rdb59c384284441bd"/>
    <p:sldId xmlns:r="http://schemas.openxmlformats.org/officeDocument/2006/relationships" id="268" r:id="Rbefdfd7dd65e4a16"/>
    <p:sldId xmlns:r="http://schemas.openxmlformats.org/officeDocument/2006/relationships" id="269" r:id="R50280247022a49ce"/>
    <p:sldId xmlns:r="http://schemas.openxmlformats.org/officeDocument/2006/relationships" id="270" r:id="R13959823e62d4ec4"/>
    <p:sldId xmlns:r="http://schemas.openxmlformats.org/officeDocument/2006/relationships" id="271" r:id="R612036dfaa4c4ae4"/>
    <p:sldId xmlns:r="http://schemas.openxmlformats.org/officeDocument/2006/relationships" id="272" r:id="Rc3e4edb3af784a82"/>
    <p:sldId xmlns:r="http://schemas.openxmlformats.org/officeDocument/2006/relationships" id="273" r:id="R14db7a520be54889"/>
    <p:sldId xmlns:r="http://schemas.openxmlformats.org/officeDocument/2006/relationships" id="274" r:id="R78ff8c9938b84dd5"/>
    <p:sldId xmlns:r="http://schemas.openxmlformats.org/officeDocument/2006/relationships" id="275" r:id="R1d0c6fc149ca4c19"/>
    <p:sldId xmlns:r="http://schemas.openxmlformats.org/officeDocument/2006/relationships" id="276" r:id="R8860d7e6e1544330"/>
    <p:sldId xmlns:r="http://schemas.openxmlformats.org/officeDocument/2006/relationships" id="277" r:id="R3ca7cde1d143459b"/>
    <p:sldId xmlns:r="http://schemas.openxmlformats.org/officeDocument/2006/relationships" id="278" r:id="R2b0887227d314b32"/>
    <p:sldId xmlns:r="http://schemas.openxmlformats.org/officeDocument/2006/relationships" id="279" r:id="R02997283ca4d4ac6"/>
    <p:sldId xmlns:r="http://schemas.openxmlformats.org/officeDocument/2006/relationships" id="280" r:id="R6bf7135ab3cd4082"/>
    <p:sldId xmlns:r="http://schemas.openxmlformats.org/officeDocument/2006/relationships" id="281" r:id="R5231eaa6b88c4cd0"/>
    <p:sldId xmlns:r="http://schemas.openxmlformats.org/officeDocument/2006/relationships" id="282" r:id="Rb267ef757adf4fd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a0205a82aed4003" /><Relationship Type="http://schemas.openxmlformats.org/officeDocument/2006/relationships/slideMaster" Target="/ppt/slideMasters/slideMaster1.xml" Id="R73cc3f5ab54040c2" /><Relationship Type="http://schemas.openxmlformats.org/officeDocument/2006/relationships/notesMaster" Target="/ppt/notesMasters/notesMaster1.xml" Id="Raf58b23cd4674043" /><Relationship Type="http://schemas.openxmlformats.org/officeDocument/2006/relationships/presProps" Target="/ppt/presProps.xml" Id="R16806e71752c4f90" /><Relationship Type="http://schemas.openxmlformats.org/officeDocument/2006/relationships/tableStyles" Target="/ppt/tableStyles.xml" Id="R3cceb00668e04a91" /><Relationship Type="http://schemas.openxmlformats.org/officeDocument/2006/relationships/slide" Target="/ppt/slides/slide1.xml" Id="R8207b907634d412a" /><Relationship Type="http://schemas.openxmlformats.org/officeDocument/2006/relationships/slide" Target="/ppt/slides/slide2.xml" Id="R46e3c106fa2c459d" /><Relationship Type="http://schemas.openxmlformats.org/officeDocument/2006/relationships/slide" Target="/ppt/slides/slide3.xml" Id="R38b26a95c6e747a5" /><Relationship Type="http://schemas.openxmlformats.org/officeDocument/2006/relationships/slide" Target="/ppt/slides/slide4.xml" Id="Re153b29a28c740d8" /><Relationship Type="http://schemas.openxmlformats.org/officeDocument/2006/relationships/slide" Target="/ppt/slides/slide5.xml" Id="R13933309211642ba" /><Relationship Type="http://schemas.openxmlformats.org/officeDocument/2006/relationships/slide" Target="/ppt/slides/slide6.xml" Id="R104546bcb4c446b2" /><Relationship Type="http://schemas.openxmlformats.org/officeDocument/2006/relationships/slide" Target="/ppt/slides/slide7.xml" Id="Raf4951449c7c4bca" /><Relationship Type="http://schemas.openxmlformats.org/officeDocument/2006/relationships/slide" Target="/ppt/slides/slide8.xml" Id="Rc7ebbcfbea3a462e" /><Relationship Type="http://schemas.openxmlformats.org/officeDocument/2006/relationships/slide" Target="/ppt/slides/slide9.xml" Id="R7e84b8ea096845bd" /><Relationship Type="http://schemas.openxmlformats.org/officeDocument/2006/relationships/slide" Target="/ppt/slides/slide10.xml" Id="R8aa84fc1fae14b97" /><Relationship Type="http://schemas.openxmlformats.org/officeDocument/2006/relationships/slide" Target="/ppt/slides/slide11.xml" Id="Rb04bf01932b8468b" /><Relationship Type="http://schemas.openxmlformats.org/officeDocument/2006/relationships/slide" Target="/ppt/slides/slide12.xml" Id="Rdb59c384284441bd" /><Relationship Type="http://schemas.openxmlformats.org/officeDocument/2006/relationships/slide" Target="/ppt/slides/slide13.xml" Id="Rbefdfd7dd65e4a16" /><Relationship Type="http://schemas.openxmlformats.org/officeDocument/2006/relationships/slide" Target="/ppt/slides/slide14.xml" Id="R50280247022a49ce" /><Relationship Type="http://schemas.openxmlformats.org/officeDocument/2006/relationships/slide" Target="/ppt/slides/slide15.xml" Id="R13959823e62d4ec4" /><Relationship Type="http://schemas.openxmlformats.org/officeDocument/2006/relationships/slide" Target="/ppt/slides/slide16.xml" Id="R612036dfaa4c4ae4" /><Relationship Type="http://schemas.openxmlformats.org/officeDocument/2006/relationships/slide" Target="/ppt/slides/slide17.xml" Id="Rc3e4edb3af784a82" /><Relationship Type="http://schemas.openxmlformats.org/officeDocument/2006/relationships/slide" Target="/ppt/slides/slide18.xml" Id="R14db7a520be54889" /><Relationship Type="http://schemas.openxmlformats.org/officeDocument/2006/relationships/slide" Target="/ppt/slides/slide19.xml" Id="R78ff8c9938b84dd5" /><Relationship Type="http://schemas.openxmlformats.org/officeDocument/2006/relationships/slide" Target="/ppt/slides/slide20.xml" Id="R1d0c6fc149ca4c19" /><Relationship Type="http://schemas.openxmlformats.org/officeDocument/2006/relationships/slide" Target="/ppt/slides/slide21.xml" Id="R8860d7e6e1544330" /><Relationship Type="http://schemas.openxmlformats.org/officeDocument/2006/relationships/slide" Target="/ppt/slides/slide22.xml" Id="R3ca7cde1d143459b" /><Relationship Type="http://schemas.openxmlformats.org/officeDocument/2006/relationships/slide" Target="/ppt/slides/slide23.xml" Id="R2b0887227d314b32" /><Relationship Type="http://schemas.openxmlformats.org/officeDocument/2006/relationships/slide" Target="/ppt/slides/slide24.xml" Id="R02997283ca4d4ac6" /><Relationship Type="http://schemas.openxmlformats.org/officeDocument/2006/relationships/slide" Target="/ppt/slides/slide25.xml" Id="R6bf7135ab3cd4082" /><Relationship Type="http://schemas.openxmlformats.org/officeDocument/2006/relationships/slide" Target="/ppt/slides/slide26.xml" Id="R5231eaa6b88c4cd0" /><Relationship Type="http://schemas.openxmlformats.org/officeDocument/2006/relationships/slide" Target="/ppt/slides/slide27.xml" Id="Rb267ef757adf4fd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eafeb8f6364450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Business Asset">
      <a:dk1>
        <a:srgbClr val="000000"/>
      </a:dk1>
      <a:lt1>
        <a:srgbClr val="FFFFFF"/>
      </a:lt1>
      <a:dk2>
        <a:srgbClr val="0B1B2A"/>
      </a:dk2>
      <a:lt2>
        <a:srgbClr val="F5F0E8"/>
      </a:lt2>
      <a:accent1>
        <a:srgbClr val="D76532"/>
      </a:accent1>
      <a:accent2>
        <a:srgbClr val="65B8A5"/>
      </a:accent2>
      <a:accent3>
        <a:srgbClr val="E2A93B"/>
      </a:accent3>
      <a:accent4>
        <a:srgbClr val="7189A5"/>
      </a:accent4>
      <a:accent5>
        <a:srgbClr val="142B40"/>
      </a:accent5>
      <a:accent6>
        <a:srgbClr val="E8E1D8"/>
      </a:accent6>
      <a:hlink>
        <a:srgbClr val="D76532"/>
      </a:hlink>
      <a:folHlink>
        <a:srgbClr val="7189A5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Business Asse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d545fa3908842e6" /><Relationship Type="http://schemas.openxmlformats.org/officeDocument/2006/relationships/notesMaster" Target="/ppt/notesMasters/notesMaster1.xml" Id="R20f28af87c9145d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66b2a9d6b1b4a24" /><Relationship Type="http://schemas.openxmlformats.org/officeDocument/2006/relationships/notesMaster" Target="/ppt/notesMasters/notesMaster1.xml" Id="R413ab5ebf6954ff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0d5d0fd66934531" /><Relationship Type="http://schemas.openxmlformats.org/officeDocument/2006/relationships/notesMaster" Target="/ppt/notesMasters/notesMaster1.xml" Id="Rd100a0002090476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80b25ab7faf46fb" /><Relationship Type="http://schemas.openxmlformats.org/officeDocument/2006/relationships/notesMaster" Target="/ppt/notesMasters/notesMaster1.xml" Id="R2e1ce366e9e746b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284be1498c54ff2" /><Relationship Type="http://schemas.openxmlformats.org/officeDocument/2006/relationships/notesMaster" Target="/ppt/notesMasters/notesMaster1.xml" Id="R13891f1a999b485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3d3bcbc3e204248" /><Relationship Type="http://schemas.openxmlformats.org/officeDocument/2006/relationships/notesMaster" Target="/ppt/notesMasters/notesMaster1.xml" Id="R5fe2bd86e87f439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4b4c9cf4d324903" /><Relationship Type="http://schemas.openxmlformats.org/officeDocument/2006/relationships/notesMaster" Target="/ppt/notesMasters/notesMaster1.xml" Id="R1cb9bd86392e448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986e711aede41f7" /><Relationship Type="http://schemas.openxmlformats.org/officeDocument/2006/relationships/notesMaster" Target="/ppt/notesMasters/notesMaster1.xml" Id="Rf3c9c20326b64a4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a981f84716b4978" /><Relationship Type="http://schemas.openxmlformats.org/officeDocument/2006/relationships/notesMaster" Target="/ppt/notesMasters/notesMaster1.xml" Id="R3331279cc66f4a1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605e83e73424b43" /><Relationship Type="http://schemas.openxmlformats.org/officeDocument/2006/relationships/notesMaster" Target="/ppt/notesMasters/notesMaster1.xml" Id="Rc416828f19d747a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23bec237d5f43ed" /><Relationship Type="http://schemas.openxmlformats.org/officeDocument/2006/relationships/notesMaster" Target="/ppt/notesMasters/notesMaster1.xml" Id="R71ba2e2a41844f7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0b7eabdc89940b5" /><Relationship Type="http://schemas.openxmlformats.org/officeDocument/2006/relationships/notesMaster" Target="/ppt/notesMasters/notesMaster1.xml" Id="Rc34eee82807e4a0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fabc57faa294e64" /><Relationship Type="http://schemas.openxmlformats.org/officeDocument/2006/relationships/notesMaster" Target="/ppt/notesMasters/notesMaster1.xml" Id="R77fbcaf59ccc483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f1fca0c432b4033" /><Relationship Type="http://schemas.openxmlformats.org/officeDocument/2006/relationships/notesMaster" Target="/ppt/notesMasters/notesMaster1.xml" Id="R3c7054a859d34b3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27db68702f74a74" /><Relationship Type="http://schemas.openxmlformats.org/officeDocument/2006/relationships/notesMaster" Target="/ppt/notesMasters/notesMaster1.xml" Id="R5cb999c53237404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79c98beb95c43c7" /><Relationship Type="http://schemas.openxmlformats.org/officeDocument/2006/relationships/notesMaster" Target="/ppt/notesMasters/notesMaster1.xml" Id="R23e9d6a850f047d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975b8de5f334b40" /><Relationship Type="http://schemas.openxmlformats.org/officeDocument/2006/relationships/notesMaster" Target="/ppt/notesMasters/notesMaster1.xml" Id="Re7c91a2ac9bc457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baa28bf5d5a4949" /><Relationship Type="http://schemas.openxmlformats.org/officeDocument/2006/relationships/notesMaster" Target="/ppt/notesMasters/notesMaster1.xml" Id="Re8bd28d2f0da454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ce85ad3411246dc" /><Relationship Type="http://schemas.openxmlformats.org/officeDocument/2006/relationships/notesMaster" Target="/ppt/notesMasters/notesMaster1.xml" Id="Ra3d2befa6a6147a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6edcc233aea4d3d" /><Relationship Type="http://schemas.openxmlformats.org/officeDocument/2006/relationships/notesMaster" Target="/ppt/notesMasters/notesMaster1.xml" Id="R1166ec5e409a482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3e5ba1f87c34835" /><Relationship Type="http://schemas.openxmlformats.org/officeDocument/2006/relationships/notesMaster" Target="/ppt/notesMasters/notesMaster1.xml" Id="R7b5c7d50cf39407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ac4a3ead5834d08" /><Relationship Type="http://schemas.openxmlformats.org/officeDocument/2006/relationships/notesMaster" Target="/ppt/notesMasters/notesMaster1.xml" Id="Rde328032b51340b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c72c2d5258e4b10" /><Relationship Type="http://schemas.openxmlformats.org/officeDocument/2006/relationships/notesMaster" Target="/ppt/notesMasters/notesMaster1.xml" Id="R24d6bd10d357440e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07ce2cfd6e624cbd" /><Relationship Type="http://schemas.openxmlformats.org/officeDocument/2006/relationships/notesMaster" Target="/ppt/notesMasters/notesMaster1.xml" Id="R25ea35c7ed554ef8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b58a0fa5c5914511" /><Relationship Type="http://schemas.openxmlformats.org/officeDocument/2006/relationships/notesMaster" Target="/ppt/notesMasters/notesMaster1.xml" Id="Rd541e86ae2e44dee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840fb54dc0544395" /><Relationship Type="http://schemas.openxmlformats.org/officeDocument/2006/relationships/notesMaster" Target="/ppt/notesMasters/notesMaster1.xml" Id="R97ec16177c5941de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8d85626dbb10411e" /><Relationship Type="http://schemas.openxmlformats.org/officeDocument/2006/relationships/notesMaster" Target="/ppt/notesMasters/notesMaster1.xml" Id="R9101d32103174d4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AI Content Investment Executive Business Case with Quality Content Formulas, supplied by the user.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Formula adapted from AI Content Investment Executive Business Case with Quality Content Formulas, supplied by the user.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Formulas adapted from AI Content Investment Executive Business Case with Quality Content Formulas, supplied by the user.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AI Content Investment Executive Business Case with Quality Content Formulas, supplied by the user.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Scorecard adapted from AI Content Investment Executive Business Case with Quality Content Formulas, supplied by the user.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aa9400938940a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c0d0513b0984ff3" /><Relationship Type="http://schemas.openxmlformats.org/officeDocument/2006/relationships/slideLayout" Target="/ppt/slideLayouts/slideLayout1.xml" Id="R30e56b3b362347d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0e56b3b362347d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Business Asset">
      <a:dk1>
        <a:srgbClr val="000000"/>
      </a:dk1>
      <a:lt1>
        <a:srgbClr val="FFFFFF"/>
      </a:lt1>
      <a:dk2>
        <a:srgbClr val="0B1B2A"/>
      </a:dk2>
      <a:lt2>
        <a:srgbClr val="F5F0E8"/>
      </a:lt2>
      <a:accent1>
        <a:srgbClr val="D76532"/>
      </a:accent1>
      <a:accent2>
        <a:srgbClr val="65B8A5"/>
      </a:accent2>
      <a:accent3>
        <a:srgbClr val="E2A93B"/>
      </a:accent3>
      <a:accent4>
        <a:srgbClr val="7189A5"/>
      </a:accent4>
      <a:accent5>
        <a:srgbClr val="142B40"/>
      </a:accent5>
      <a:accent6>
        <a:srgbClr val="E8E1D8"/>
      </a:accent6>
      <a:hlink>
        <a:srgbClr val="D76532"/>
      </a:hlink>
      <a:folHlink>
        <a:srgbClr val="7189A5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Business Asse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2932a8682e4c52" /><Relationship Type="http://schemas.openxmlformats.org/officeDocument/2006/relationships/image" Target="/ppt/media/image.png" Id="Raf11fc7b135f4523" /><Relationship Type="http://schemas.openxmlformats.org/officeDocument/2006/relationships/notesSlide" Target="/ppt/notesSlides/notesSlide1.xml" Id="R5a4646d71e5e42f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7c2973b2b34314" /><Relationship Type="http://schemas.openxmlformats.org/officeDocument/2006/relationships/notesSlide" Target="/ppt/notesSlides/notesSlide2.xml" Id="Ra52b7fdc80d24d8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de0b60ec034f30" /><Relationship Type="http://schemas.openxmlformats.org/officeDocument/2006/relationships/notesSlide" Target="/ppt/notesSlides/notesSlide3.xml" Id="Rde3629abbd1d424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f6db81fc5b4116" /><Relationship Type="http://schemas.openxmlformats.org/officeDocument/2006/relationships/notesSlide" Target="/ppt/notesSlides/notesSlide4.xml" Id="Rc5464df5990d4a0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c81522e10546b5" /><Relationship Type="http://schemas.openxmlformats.org/officeDocument/2006/relationships/notesSlide" Target="/ppt/notesSlides/notesSlide5.xml" Id="R9bd6a5026698405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c41f0fa6b04bb0" /><Relationship Type="http://schemas.openxmlformats.org/officeDocument/2006/relationships/notesSlide" Target="/ppt/notesSlides/notesSlide6.xml" Id="R802a29a686824a2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43d352c3564649" /><Relationship Type="http://schemas.openxmlformats.org/officeDocument/2006/relationships/notesSlide" Target="/ppt/notesSlides/notesSlide7.xml" Id="Raf4e4b3147da480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e0b2809d1547b1" /><Relationship Type="http://schemas.openxmlformats.org/officeDocument/2006/relationships/notesSlide" Target="/ppt/notesSlides/notesSlide8.xml" Id="R2b3ce42bf06f409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cee7c3179448c7" /><Relationship Type="http://schemas.openxmlformats.org/officeDocument/2006/relationships/notesSlide" Target="/ppt/notesSlides/notesSlide9.xml" Id="R7bca0e9ba986462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4fd529c2fe4162" /><Relationship Type="http://schemas.openxmlformats.org/officeDocument/2006/relationships/notesSlide" Target="/ppt/notesSlides/notesSlide10.xml" Id="R7a0d239ddc11497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2a5034ccf743b0" /><Relationship Type="http://schemas.openxmlformats.org/officeDocument/2006/relationships/notesSlide" Target="/ppt/notesSlides/notesSlide11.xml" Id="R4b4ecd183de447f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6af06a78bd440b" /><Relationship Type="http://schemas.openxmlformats.org/officeDocument/2006/relationships/notesSlide" Target="/ppt/notesSlides/notesSlide12.xml" Id="R495121c074614e5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31c7249e7b474a" /><Relationship Type="http://schemas.openxmlformats.org/officeDocument/2006/relationships/notesSlide" Target="/ppt/notesSlides/notesSlide13.xml" Id="R49fec0878a8c4e6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c5a8feb4294743" /><Relationship Type="http://schemas.openxmlformats.org/officeDocument/2006/relationships/notesSlide" Target="/ppt/notesSlides/notesSlide14.xml" Id="Rb5a384e286af4c2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ed0d3bdb6442ff" /><Relationship Type="http://schemas.openxmlformats.org/officeDocument/2006/relationships/notesSlide" Target="/ppt/notesSlides/notesSlide15.xml" Id="R3989e82816b446e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ab20dc3d744f70" /><Relationship Type="http://schemas.openxmlformats.org/officeDocument/2006/relationships/notesSlide" Target="/ppt/notesSlides/notesSlide16.xml" Id="R7114934698864ed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366b703c7244bc" /><Relationship Type="http://schemas.openxmlformats.org/officeDocument/2006/relationships/notesSlide" Target="/ppt/notesSlides/notesSlide17.xml" Id="R1b5ba9d2543640a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e38dccea4c44e5" /><Relationship Type="http://schemas.openxmlformats.org/officeDocument/2006/relationships/notesSlide" Target="/ppt/notesSlides/notesSlide18.xml" Id="R587efbba37bd406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967bb383db433e" /><Relationship Type="http://schemas.openxmlformats.org/officeDocument/2006/relationships/notesSlide" Target="/ppt/notesSlides/notesSlide19.xml" Id="R8fb75f83fdc0472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6de679e9cc48c7" /><Relationship Type="http://schemas.openxmlformats.org/officeDocument/2006/relationships/notesSlide" Target="/ppt/notesSlides/notesSlide20.xml" Id="Ra650c3caa38e482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ef1b6be8954b3a" /><Relationship Type="http://schemas.openxmlformats.org/officeDocument/2006/relationships/notesSlide" Target="/ppt/notesSlides/notesSlide21.xml" Id="R89195e401e25424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6eb3c57e534157" /><Relationship Type="http://schemas.openxmlformats.org/officeDocument/2006/relationships/notesSlide" Target="/ppt/notesSlides/notesSlide22.xml" Id="R187b13474d814bd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4ae2e2efbb470f" /><Relationship Type="http://schemas.openxmlformats.org/officeDocument/2006/relationships/notesSlide" Target="/ppt/notesSlides/notesSlide23.xml" Id="R3b670258eb004dfe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08146d16f8452d" /><Relationship Type="http://schemas.openxmlformats.org/officeDocument/2006/relationships/notesSlide" Target="/ppt/notesSlides/notesSlide24.xml" Id="R4f0d01ec3e7b436c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42483160774ace" /><Relationship Type="http://schemas.openxmlformats.org/officeDocument/2006/relationships/notesSlide" Target="/ppt/notesSlides/notesSlide25.xml" Id="Rf4055a7578ea433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6ea0c8b10f44f7" /><Relationship Type="http://schemas.openxmlformats.org/officeDocument/2006/relationships/notesSlide" Target="/ppt/notesSlides/notesSlide26.xml" Id="Rcabef7ea6ea24b4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cca9a23ad24f5d" /><Relationship Type="http://schemas.openxmlformats.org/officeDocument/2006/relationships/notesSlide" Target="/ppt/notesSlides/notesSlide27.xml" Id="R578a5f2a132e4e7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11fc7b135f452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627722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B68BF3-9A2B-4187-9CDD-98008048F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EXECUTIVE SUMMARY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E97BA2-D050-41D9-A37E-35CAE1FD8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8A8179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A817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284D67-98C5-49D4-A447-58BBC7CBC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A unified content program makes value visible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A696F9-6085-4047-A59C-1575392DC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The deck connects customer needs to a shared way of working, then shows how to measure and manage the resulting asset.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0B73AF-5A59-4440-B181-83543ED66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66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084A59-9CE0-4D30-B854-360417D66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3190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846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Start with the customer journey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E30C07-8D5F-4BB4-AB18-787AC6F90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31908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Agree on the customer task, authoritative source, owner, and lifecycle before producing another format.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66A798-319C-412F-BDE9-F4D2C1CFE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667000"/>
            <a:ext cx="66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65B8A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65B8A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8F52A4-66AC-45DC-A159-B2A1FD347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476625"/>
            <a:ext cx="3190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Run one planning method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10ED7A-493B-454D-B16C-E3049B449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000500"/>
            <a:ext cx="31908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Use the seven-step framework and a shared pilot to expose overlap, gaps, and decisions.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2AAD1E-5B18-4021-B110-4F90B76C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67000"/>
            <a:ext cx="66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E2A93B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E2A93B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334E26-50FA-461E-959E-9D66771A2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476625"/>
            <a:ext cx="3190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Show the business case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37A996-76FC-4D72-A90A-9E490484E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000500"/>
            <a:ext cx="31908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Track reuse, quality, cost, and performance to guide investment and retirement.</a:t>
            </a:r>
          </a:p>
        </p:txBody>
      </p:sp>
    </p:spTree>
    <p:extLst>
      <p:ext uri="{BB962C8B-B14F-4D97-AF65-F5344CB8AC3E}">
        <p14:creationId xmlns:p14="http://schemas.microsoft.com/office/powerpoint/2010/main" val="113358822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EBCC7D-1F76-4744-9089-7B63DA37A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01  CONTEXT AND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97FB9D-5B0A-4D35-99F5-8F162CB2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8293A4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293A4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D742B1-9CD5-4553-A75A-966870AE4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Content has a customer, a job, and a lifecycle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7B5E74-41FC-4E9E-B679-7DD16A035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47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D89BF8-5530-4263-A4C1-51555DEEE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Understand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6CD4AE-9CD4-4DFC-983E-645D90C7F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43250"/>
            <a:ext cx="2238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BCC9D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BCC9D3"/>
                </a:solidFill>
                <a:latin typeface="Arial"/>
                <a:ea typeface="Arial"/>
                <a:cs typeface="Arial"/>
              </a:rPr>
              <a:t>Customer task and evidence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95C979-42FF-41EA-9C40-A35AC16AB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771775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0BE6BB-3BF6-422D-9EDF-DA6654F98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190750"/>
            <a:ext cx="47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8CADAA-CF01-4F8C-956A-5679FE8F1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64795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Design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EE2352-D35B-4B5A-A475-FEAE72F34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143250"/>
            <a:ext cx="2238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BCC9D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BCC9D3"/>
                </a:solidFill>
                <a:latin typeface="Arial"/>
                <a:ea typeface="Arial"/>
                <a:cs typeface="Arial"/>
              </a:rPr>
              <a:t>Source, structure, and format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788CBC-E0B6-48B4-8CDC-471B2D38C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771775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EE1700-AF0B-42C1-999B-84B2CD491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90750"/>
            <a:ext cx="47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CF2597-91A0-4901-A3E8-8BB9F9CBF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4795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Deliver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D02106-C936-40E7-8A2E-25E36EF58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43250"/>
            <a:ext cx="2238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BCC9D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BCC9D3"/>
                </a:solidFill>
                <a:latin typeface="Arial"/>
                <a:ea typeface="Arial"/>
                <a:cs typeface="Arial"/>
              </a:rPr>
              <a:t>Channel and access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ABA25B-0615-48DD-BE5C-A233E5D60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771775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522CBA-DAD6-418B-93D2-5802B9C48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190750"/>
            <a:ext cx="47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C08AE3-25E9-411D-BAF7-4AD282DA5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4795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Measure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448D4B-C949-4FC1-9E49-53C85016F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143250"/>
            <a:ext cx="2238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BCC9D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BCC9D3"/>
                </a:solidFill>
                <a:latin typeface="Arial"/>
                <a:ea typeface="Arial"/>
                <a:cs typeface="Arial"/>
              </a:rPr>
              <a:t>Use, outcome, and upkeep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794C29-35E8-4E9E-8D99-2EF576682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990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product mindset makes maintenance and retirement part of the plan, not afterthoughts.</a:t>
            </a:r>
          </a:p>
        </p:txBody>
      </p:sp>
    </p:spTree>
    <p:extLst>
      <p:ext uri="{BB962C8B-B14F-4D97-AF65-F5344CB8AC3E}">
        <p14:creationId xmlns:p14="http://schemas.microsoft.com/office/powerpoint/2010/main" val="175451513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8569F4-867A-4921-9608-1D471A207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01  CONTEXT AND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62F8CE-CE00-4424-A470-B4587757E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8A8179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A817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00BCD0-966E-454C-ADD7-8E4988399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Customers experience one journey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F0BABA-E787-433C-8BED-83E5D661C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Many teams create the content. Customers still expect one coherent answer.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F6B9FE-F72B-46E6-841A-D68E88E85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28875"/>
            <a:ext cx="333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The shared decisions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DBDCC9-ECC4-4BBB-94BA-9CBFA281A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B1BFE8-46B7-49E2-8890-11DA77980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52750"/>
            <a:ext cx="4552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Customer need and intended result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DF3D3D-A1BE-497E-9D23-18667C572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C56775-E938-4317-83DB-79B320053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05200"/>
            <a:ext cx="4552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Approved source information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807343-E3B3-49F9-9CA0-EA7DD9925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529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89AAC5-B62C-4F1A-B72D-2872CE2F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57650"/>
            <a:ext cx="4552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Ownership and maintenance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9EB1BD-FFC7-4BB9-BB5E-B425F4537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53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7C00F8-ADEC-4006-99D8-82B4C4D4D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10100"/>
            <a:ext cx="4552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Reuse rules and success measures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3E7071-14F5-4F3D-9866-118D3833F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38375"/>
            <a:ext cx="4476750" cy="2857500"/>
          </a:xfrm>
          <a:prstGeom xmlns:a="http://schemas.openxmlformats.org/drawingml/2006/main" prst="roundRect">
            <a:avLst>
              <a:gd name="adj" fmla="val 9333"/>
            </a:avLst>
          </a:prstGeom>
          <a:solidFill xmlns:a="http://schemas.openxmlformats.org/drawingml/2006/main">
            <a:srgbClr val="0B1B2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9F8B65-AF90-4687-9D99-7BC874156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261937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When teams agree early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B189B2-C2B1-40BB-A791-FC99E41EC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3190875"/>
            <a:ext cx="3429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C6D0D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6D0D8"/>
                </a:solidFill>
                <a:latin typeface="Arial"/>
                <a:ea typeface="Arial"/>
                <a:cs typeface="Arial"/>
              </a:rPr>
              <a:t>Repeated research falls. Conflicts surface sooner. Each channel can adapt the same source without changing the facts.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778A71-DEA9-42FC-B603-7C274A674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905375"/>
            <a:ext cx="1428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6779015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E811F0-735D-44CD-BD04-56FE1325B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01  CONTEXT AND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F29954-8E38-4534-970F-8ADD80583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8293A4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293A4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BAD7E3-5422-4CB4-A3DF-2CAB9BCDF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Fragmented teams create hidden content debt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CC608F-D4F5-4051-985C-66E9745C3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2286000" cy="819150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B930D7-2163-4439-A047-1552A230E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2019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1B2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1B2A"/>
                </a:solidFill>
                <a:latin typeface="Arial"/>
                <a:ea typeface="Arial"/>
                <a:cs typeface="Arial"/>
              </a:rPr>
              <a:t>Marketing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627768-2C6F-49A5-8380-FC3C8E3CC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BFCAD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FCAD3"/>
                </a:solidFill>
                <a:latin typeface="Arial"/>
                <a:ea typeface="Arial"/>
                <a:cs typeface="Arial"/>
              </a:rPr>
              <a:t>Different tools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AAB2EA-0BA0-4E9A-8F10-F5B0D001E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286000"/>
            <a:ext cx="2286000" cy="819150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65B8A5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584426-C564-40C7-9EBE-F24680847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400300"/>
            <a:ext cx="2019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Technical publications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B3C6C3-3E14-4B04-9934-F2F96761C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3337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BFCAD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FCAD3"/>
                </a:solidFill>
                <a:latin typeface="Arial"/>
                <a:ea typeface="Arial"/>
                <a:cs typeface="Arial"/>
              </a:rPr>
              <a:t>Repeated research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707CF7-A57C-48F3-933F-D1ABBC038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86000"/>
            <a:ext cx="2286000" cy="819150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E2A93B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7316B3-8388-4339-8D33-EE5403424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00300"/>
            <a:ext cx="2019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1B2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1B2A"/>
                </a:solidFill>
                <a:latin typeface="Arial"/>
                <a:ea typeface="Arial"/>
                <a:cs typeface="Arial"/>
              </a:rPr>
              <a:t>Customer education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948080-0FC8-477B-B562-CE9D5EAB9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3337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BFCAD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FCAD3"/>
                </a:solidFill>
                <a:latin typeface="Arial"/>
                <a:ea typeface="Arial"/>
                <a:cs typeface="Arial"/>
              </a:rPr>
              <a:t>Conflicting versions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591478-9497-405D-AB5B-994CFEEC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286000"/>
            <a:ext cx="2286000" cy="819150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7189A5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090C4C-AFC0-44E5-8A2A-5E37745EF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400300"/>
            <a:ext cx="2019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1B2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1B2A"/>
                </a:solidFill>
                <a:latin typeface="Arial"/>
                <a:ea typeface="Arial"/>
                <a:cs typeface="Arial"/>
              </a:rPr>
              <a:t>Sales and support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C498DA-F907-4124-9E62-695746B16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337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BFCAD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FCAD3"/>
                </a:solidFill>
                <a:latin typeface="Arial"/>
                <a:ea typeface="Arial"/>
                <a:cs typeface="Arial"/>
              </a:rPr>
              <a:t>Duplicate production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2AFD4C-CA65-47E1-A9E6-57C12046C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905375"/>
            <a:ext cx="8953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87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Each team can finish its assignment while the customer journey remains inconsistent.</a:t>
            </a:r>
          </a:p>
        </p:txBody>
      </p:sp>
    </p:spTree>
    <p:extLst>
      <p:ext uri="{BB962C8B-B14F-4D97-AF65-F5344CB8AC3E}">
        <p14:creationId xmlns:p14="http://schemas.microsoft.com/office/powerpoint/2010/main" val="155007269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A25C42-8DC2-40EA-B93B-6E8E1987B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01  CONTEXT AND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51AB35-AC66-480B-AE1F-397DBF0E1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8A8179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A8179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9CC3B7-0049-4C25-8C86-E06C74285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Four decisions hold the work together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CCC96E-5097-4573-9096-ACC99AFD3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C974D1-F6DF-461B-8B6C-17075D7C9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Purpose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FB486E-620E-48A7-963D-7FBC2DCA0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1047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0ECDA5-5AFF-42DC-AA56-AD105C744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6125"/>
            <a:ext cx="2333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The customer need and the result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2F7ED3-BD62-4E93-9826-0A8B2B8B9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095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B514C7-6D64-4A57-92CC-2864E04EE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47650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Source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C3A96D-49EA-4DF4-BD30-4C440F04B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009900"/>
            <a:ext cx="1047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B8A5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11C627-C22C-426B-AC1F-6350CF56A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286125"/>
            <a:ext cx="2333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The approved explanation, claim, or procedure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0D19F8-55F9-4149-A7FB-C8708D5DA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095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8A9B41-AEC6-4F23-A7D0-61F2973D4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47650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Ownership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69640A-EF04-4F68-A4ED-34F06FDF6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009900"/>
            <a:ext cx="1047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A93B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0435C7-E5E3-4D5C-828F-1C0EEC90C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286125"/>
            <a:ext cx="2333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Who creates, reviews, and maintains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970DE2-FD96-4AAB-AE17-0AA6A616B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95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5E9E1D-E0BE-49B0-8870-ED9D15910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47650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Delivery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FB83BF-42C8-438E-A8B5-1D66F5E5D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09900"/>
            <a:ext cx="1047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89A5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370E20-82DE-4E07-9CE5-ECA907E0C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86125"/>
            <a:ext cx="2333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How each channel adapts the source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A8929C-37AA-4E84-90B0-65A94F9A0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76875"/>
            <a:ext cx="990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Teams can keep the formats that fit their work while coordinating the choices that affect everyone.</a:t>
            </a:r>
          </a:p>
        </p:txBody>
      </p:sp>
    </p:spTree>
    <p:extLst>
      <p:ext uri="{BB962C8B-B14F-4D97-AF65-F5344CB8AC3E}">
        <p14:creationId xmlns:p14="http://schemas.microsoft.com/office/powerpoint/2010/main" val="11234321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61F3418-D8B3-4A8D-A98B-5AE608649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02  THE WORKING METHOD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9FB345-3873-4E73-A939-4FF774C51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8293A4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293A4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F41606-7678-49E9-B202-B2C960B12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Seven steps for a unified content strategy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D362F7-3613-42B0-9487-2BC74EFAA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238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10F150-DC06-409F-B0F7-4AEB1E821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7298AE-F068-4F01-8289-0DFA71354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67640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Analyze the business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A56B33-F035-4C55-88B6-53AF79945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95525"/>
            <a:ext cx="3238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142B40"/>
          </a:solidFill>
          <a:ln xmlns:a="http://schemas.openxmlformats.org/drawingml/2006/main" w="9525">
            <a:solidFill>
              <a:srgbClr val="47617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89398F-664D-44F6-AB0C-73CA7EA65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95525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DB7865-ED39-4991-ABC7-5A57C55E4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57425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Inventory content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B6B4F9-3623-4140-9631-2EF428619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3238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142B40"/>
          </a:solidFill>
          <a:ln xmlns:a="http://schemas.openxmlformats.org/drawingml/2006/main" w="9525">
            <a:solidFill>
              <a:srgbClr val="47617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231E6C-2E83-4B56-B242-3AD44EB2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208F40-D553-418A-A034-6926922EF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Research audiences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8DEBB8-1D68-48A6-848A-65B9A47A0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57575"/>
            <a:ext cx="3238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142B40"/>
          </a:solidFill>
          <a:ln xmlns:a="http://schemas.openxmlformats.org/drawingml/2006/main" w="9525">
            <a:solidFill>
              <a:srgbClr val="47617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8D28C0-C31A-4BE7-A23D-1112BD1D0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57575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294955-A8CB-4FE5-96D8-73F1F6DD5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419475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 quality and reuse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01F035-DA47-44C3-83FF-2BA354A62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3238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142B40"/>
          </a:solidFill>
          <a:ln xmlns:a="http://schemas.openxmlformats.org/drawingml/2006/main" w="9525">
            <a:solidFill>
              <a:srgbClr val="476176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8219A0-554F-4687-B96A-6863EB595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39557E-13E0-4261-AF80-D343A4D57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0050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Measure use and effort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7379A5-F0FD-4F98-BF39-7A8E0ED8D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9625"/>
            <a:ext cx="3238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798A12-767B-408F-BACC-BEE98B08E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9625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5FC385-91E2-4306-B0E8-1A9E63C0D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81525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Build the roadmap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41A8F9-D647-4EF8-B065-41E71DAB0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00650"/>
            <a:ext cx="3238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97FAA6-F277-42CC-9D79-BEEA13929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006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255B70-92E1-4A54-AA56-612E86FF1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1625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Publish, track, improve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AAC99FE-FAAA-44DA-9FA9-6D6F6380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381250"/>
            <a:ext cx="3714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Begin with the business and customer problem. Choose tools after the team understands the work.</a:t>
            </a:r>
          </a:p>
        </p:txBody>
      </p:sp>
    </p:spTree>
    <p:extLst>
      <p:ext uri="{BB962C8B-B14F-4D97-AF65-F5344CB8AC3E}">
        <p14:creationId xmlns:p14="http://schemas.microsoft.com/office/powerpoint/2010/main" val="177242122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40ACC75-4545-43F0-91B2-9E8B16952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02  THE WORKING METHOD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921624-3EC2-4B14-BD76-E02FDED6C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8A8179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A8179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E5A6C2-940A-47F9-978F-E8D3485D0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Business 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56EE98-CAB4-4211-AD35-A0FE461CA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Content priorities should reflect how the organization creates value and where customers struggle.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8C52B6-6248-4CC3-8FA1-0A97A6D18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Internal context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971EE7-E53A-470B-942A-FE0DBF743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876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CC29D0-8ED4-44D0-BDF3-F29F72EBB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03F0BD-06D9-48CC-B677-13DE7C428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Products and services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7CF62E-5156-468E-8FAC-51E11C900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D119FB-B2C2-47E9-86B3-60BA220FB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337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Revenue and cost pressures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29082B-FEBC-4A16-A9E3-884BB2702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E5E804-E1D4-4716-BC34-D1F818516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100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Strategic priorities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0D746F-A8F5-4D67-B99B-98F63109B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78218C-1B5A-47D7-BD11-7FAC19FAB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862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Operating constraints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452BA9-3CA5-41B4-809A-9B86A661A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907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External context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29D3B6-7174-4676-AA23-BEC60D61F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876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B8A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2F93B6-BB13-44C0-93C1-70F040843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52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5F1CAC-2EBF-4E4E-97DE-5C046A607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575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Customer expectations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5295C5-F235-4253-A8DB-DA885E725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429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A78D19-A568-44CC-8336-3C1E762E0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3337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Competitive alternatives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76A283-DC8C-4F49-BA6F-426594B35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9052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7B39F2-B9D4-455C-9587-061EA581E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8100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Market and regulatory shifts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A1ACB3-2E01-442D-8ACA-D8B1CEBE0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3815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590A7C-25CD-4183-908A-197743200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2862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Channel behavior</a:t>
            </a:r>
          </a:p>
        </p:txBody>
      </p:sp>
    </p:spTree>
    <p:extLst>
      <p:ext uri="{BB962C8B-B14F-4D97-AF65-F5344CB8AC3E}">
        <p14:creationId xmlns:p14="http://schemas.microsoft.com/office/powerpoint/2010/main" val="58851215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C59FC7-3A7A-427B-8BA1-67F68B55A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02  THE WORKING METHOD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7F14F9-3DE6-4AD2-A75C-065079FF5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8A8179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A8179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5E5E15-694D-43FC-A5E0-5CCF42B88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A decision-ready content inventory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2282A4-DA65-40F4-8C29-E9556B03F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Collect enough detail to reveal patterns, ownership, and evidence of use.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C96086-4E6C-44FA-A809-A2EAECFF5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Capture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435FC0-7116-4FC9-9A44-44AE67E73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876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BD4A3C-FB13-4DA5-ADCE-BB207337A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76D0BE-0D13-43F3-8440-D2D44502A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Location and stable identifier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15B6FC-F664-4A8A-8F16-233E4949A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F6EE2B-3179-4FD6-BE27-62C72CDBE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337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Owner, audience, and purpose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C7C4C3-B0F1-4BCC-8314-442FE05C4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8FEFFA-E1DF-4637-AB7C-67CE171CD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100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Format, channel, and lifecycle state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F78561-0EE7-4F8F-8296-8EE897157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29FA8C-3F83-4F20-8254-ECC4123C9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862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Performance data when available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FAFFE1-B697-4B93-A4B4-088D5814C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907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Use it to find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5CB41C-668D-4F04-993E-410FFE1D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876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B8A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A85075-B42C-49CC-B91F-F73AE608F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52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F10A8F-83F9-41D7-B581-29542EE10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575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Duplication and contradiction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7B5760-7447-4B51-89E6-3B1B90C22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429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B88315-2E23-4F7B-A02E-C7DE30D9D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3337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Gaps in the customer journey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2E679A-B0AF-41AC-B5BD-C02764D4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9052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6507AB-4C57-4DB5-8F7C-9EA644E7B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8100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Orphaned or outdated content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6C94D8-4464-4F41-B1BF-FCA270331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3815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C3D742-4362-4F84-9AB5-674256A91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2862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High-value reuse candidates</a:t>
            </a:r>
          </a:p>
        </p:txBody>
      </p:sp>
    </p:spTree>
    <p:extLst>
      <p:ext uri="{BB962C8B-B14F-4D97-AF65-F5344CB8AC3E}">
        <p14:creationId xmlns:p14="http://schemas.microsoft.com/office/powerpoint/2010/main" val="12951977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6EA067-E152-4AE1-8341-6EBCA107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02  THE WORKING METHOD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D2C079-047F-4297-A80A-3753D61DC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8A8179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A817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B4EE56-9A61-42EA-AAD1-B06894C7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Audience needs and journeys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95EEBE-37F7-468E-AE0F-E8C3720F2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A persona matters when it changes a content decision.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C358DF-E60E-4213-BD34-91050890E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Understand the user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5DC5D0-2EE3-4FE5-8175-57A575472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876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CD883C-37C8-456F-B8C0-793DD359B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245CFC-AB82-4773-9CB6-B9342C6CE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Role and responsibility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883134-8680-488B-909C-367FDED5A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B45981-C258-4784-9FC1-D5879499E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337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Task or decision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4D5E51-CFB7-4929-A22F-D7B7DEF4C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0490D2-C06E-4DEF-9486-5F720F58B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100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Questions and barriers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DAE75D-D014-4B76-85E8-4ACB2C492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B284FF-EB12-4736-AC2E-E1F00874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862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Preferred access point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DB5446-EE42-48A2-880A-F415C743A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907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Connect to the journey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B08E07-673D-43BB-B3B5-4903625B1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876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B8A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F41202-EC42-47B2-967F-9DFA82324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52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CF5E87-204C-45CD-98D7-50D1F12CC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575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Discover and evaluate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312C18-C3CA-4E51-AE7C-1786A804D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429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7F8B36-44F4-4BF3-BA1D-FE42E326A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3337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Purchase and onboard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9B13BB-3001-4545-B187-A2B1AD688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9052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9FEB83-C87A-4DCA-87E8-66C9C5291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8100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Use and troubleshoot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972B30-F1C9-47AB-AD8F-29F81E594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3815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197F1B9-C6E9-4F7E-8B7D-A4CF63A78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2862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Adopt and advocate</a:t>
            </a:r>
          </a:p>
        </p:txBody>
      </p:sp>
    </p:spTree>
    <p:extLst>
      <p:ext uri="{BB962C8B-B14F-4D97-AF65-F5344CB8AC3E}">
        <p14:creationId xmlns:p14="http://schemas.microsoft.com/office/powerpoint/2010/main" val="100428908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FE81F1-3343-4E76-989D-2C8C8E74E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02  THE WORKING METHOD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456CA2-0D67-4523-962F-B0E7E33E0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8A8179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A817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EA876F-777C-453A-99B1-92FECA491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Content quality and reuse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4A3280-6237-4AA0-9497-6EA19D2DC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A polished asset can still be inaccurate, difficult to find, or expensive to maintain.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D12D4F-351C-4486-BFC9-8EF1E7B72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Quality review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D6A491-5CE3-4EF8-9A3B-461C46B8A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876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399C0D-9DE7-4DB3-BDB2-EF7FDDB84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6979CE-1AFD-4624-A60F-08C1DD85D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Accuracy and currency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A73B21-B5D6-4A10-B8DB-3CE8F0EC7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45C4D2-39F7-4DCA-AE22-DE50B0C59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337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Clarity and organization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2F03DF-4E2E-442B-A041-553AD19BD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70BC11-DAC7-47F3-A926-89C0D6677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100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Findability and metadata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052720-791F-4E67-9147-F0B1FED75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0D02C2-A4B7-4708-9E45-0F49330AA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862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Accessibility and usability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4B67F-11B1-4DBE-B65F-FE9A07027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907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Reuse review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4058D2-BEA5-4D5A-91E6-CF694FB9D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876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B8A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05AB89-ACF7-4287-B3F4-6BF6113EA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52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CC007E-E06D-4843-992E-70778B732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575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Source ownership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AE5257-62EF-45B6-87FB-00FB9EFB7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429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0FFE72-2555-464D-B40D-97BD1858C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3337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Content granularity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F4D9A0-5376-4B17-900C-60406C61B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9052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9D1C75-A823-4473-B5FE-C046249D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8100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Format dependence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8D9573-A10B-4B6C-B99B-90B9EE0FC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3815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D508C8-7D71-4B21-8FDE-531CFD9E2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2862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Rights and lifecycle constraints</a:t>
            </a:r>
          </a:p>
        </p:txBody>
      </p:sp>
    </p:spTree>
    <p:extLst>
      <p:ext uri="{BB962C8B-B14F-4D97-AF65-F5344CB8AC3E}">
        <p14:creationId xmlns:p14="http://schemas.microsoft.com/office/powerpoint/2010/main" val="46702395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5771D2-8987-4397-B882-CACF3DF28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02  THE WORKING METHOD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39F7B1-71B1-4C90-AF8D-0AB3A2D16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8A8179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A817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46F27B-205B-432E-B227-55E12CF25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Customer use and team effort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7DD5C2-FAA9-4601-BB3D-AED494A33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Pair customer evidence with production data to see what helps and what slows the work.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AF58E9-CC85-4283-A114-02A87C372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Customer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EF45B5-6B6E-4A70-8C71-624B4B232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876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7ED0BE-1ACA-4EF8-AAFA-EF7159F75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775AC0-6B9E-4308-9868-3A7B69D88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Search, views, and completion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A2D2A4-9F06-40E8-9186-26B7D663B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AB688F-E107-4574-8EA8-41FBD3D16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337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Downloads and engagement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F20F0F-3CDE-4C16-9299-C1373ED5F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22D5B6-31B7-4CC6-9F62-9AD69178E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100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Support deflection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78EB92-10A6-4097-9A68-B68FBDCEA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AB0F33-6C1F-4418-8981-8DDD92A7A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862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Task success and feedback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771ECD-010E-4085-9393-0DE78A5DE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907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Team effort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25E9C5-D25C-4170-8545-20F40DDA3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876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B8A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E16B10-3A12-4A40-A165-078607F7F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52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E1B087-C111-4232-9AD7-9D779372B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575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Cycle time and rework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1E09DB-67EE-4115-898B-C51DAC550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429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112404-FDCF-4A13-B033-3B5B2A9BC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3337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Review effort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25DBBB-F629-4209-A094-7B87B7BE7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9052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615C4D-DEBC-4F9F-BFFD-27F9FC718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8100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Duplicate production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4687F8-AB76-4E88-8295-7D99DBE59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3815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9BD718-078F-4F2A-9518-1662BF624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2862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Reuse across teams and channels</a:t>
            </a:r>
          </a:p>
        </p:txBody>
      </p:sp>
    </p:spTree>
    <p:extLst>
      <p:ext uri="{BB962C8B-B14F-4D97-AF65-F5344CB8AC3E}">
        <p14:creationId xmlns:p14="http://schemas.microsoft.com/office/powerpoint/2010/main" val="21046895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C68899-3209-4BB1-A443-F4C60FF57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02  THE WORKING METHOD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CCF6BA-A09B-4499-A054-B8F0F3CB3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8A8179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A817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10BF34-846D-462E-B05A-25E3247E9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Roadmap, launch, and follow-up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9E1B6E-1C76-4D7B-B3F1-84DFD928A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Roadmap decisions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2B6FDE-1B77-4818-9D76-E47C529E9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876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620B30-4D57-43C9-83F7-165FA7C19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706609-B405-43C5-ABB1-7F03C6A2E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Topic and customer purpose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983ED4-E081-4035-A6AB-DBDCFDF1A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8AAB21-35D9-4A5B-8182-71B21F8F1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337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Journey stage and source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098D33-7490-4706-B1C7-8B3EE66EA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4B6862-2C59-4854-99A2-AE9AC8BB9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100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Channel and owner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C26A2C-0C74-43BD-A21F-EEB70062E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CE95E2-703C-43AC-A93E-33EB6E643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862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Risk, effort, and sequence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F654AA-42E2-417D-865C-642D04BB2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907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Launch and learning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C99C11-2E11-4C8A-B04E-BC71695E2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876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B8A5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8296DF-CE65-46B2-895D-578CAB135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52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863E9D-2192-4BEE-94C0-150D19B75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575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Confirm ownership and version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DD6A67-0DCF-4F74-8770-6F44A0E33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429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78161C-D462-476B-8226-4CE9FE2E1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3337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Validate links and metadata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A2BF9A-76F7-4731-AEDC-A4E0B681B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9052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7CD245-A871-472A-9EAF-0181D08D3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81000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Connect analytics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388BF0-CFA3-4150-853B-5779B261C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3815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2A4365-0A32-4F62-9797-19B51D02B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286250"/>
            <a:ext cx="464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Revise, retire, or reuse based on evidence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BF3AEC-7DA4-4F76-B956-80CD9FA19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990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The team starts learning when customers can use the content.</a:t>
            </a:r>
          </a:p>
        </p:txBody>
      </p:sp>
    </p:spTree>
    <p:extLst>
      <p:ext uri="{BB962C8B-B14F-4D97-AF65-F5344CB8AC3E}">
        <p14:creationId xmlns:p14="http://schemas.microsoft.com/office/powerpoint/2010/main" val="111596023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9A63B9-4E65-423D-835F-A954C283C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03  THE PRODUCT LAUNCH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6C5EAA-4123-4100-95F6-00BDDF214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8293A4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293A4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F62F1D-CAD0-4DB6-9953-3290CBE37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product launch tested the approach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6142F9-776E-46F6-9508-2CC6E2EE2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SETTING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B5E224-BD85-4771-9F32-71A4BEE8D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465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complex launch with technical publications, training, rich media, marketing, service, and field teams working independently.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205673-C464-4739-A985-333FBC410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4787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PILOT QUESTION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F2B65B-4FE2-41F0-B7A4-D7452FA86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33625"/>
            <a:ext cx="476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465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Could one audit reveal overlap, assign work by expertise, and create a process that later launches could reuse?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EE72F0-861D-4399-BBC8-3952609B0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096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05B3C9-B50A-4BA8-A0D0-7E7C8C9FC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pilot focused on decisions and responsibilities rather than forcing every team into one tool.</a:t>
            </a:r>
          </a:p>
        </p:txBody>
      </p:sp>
    </p:spTree>
    <p:extLst>
      <p:ext uri="{BB962C8B-B14F-4D97-AF65-F5344CB8AC3E}">
        <p14:creationId xmlns:p14="http://schemas.microsoft.com/office/powerpoint/2010/main" val="54733206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40F115-002B-4D2E-8EF4-4FD17CE32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03  THE PRODUCT LAUNCH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805780-9A9F-43E7-B3CD-2A8FFF537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8A8179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A817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589DFC-CE34-44C1-B8FA-07412FA86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The audit exposed a 30% reuse opportunity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16BFC8-2E24-4C45-966F-388CBAE1E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762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300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6300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30%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406345-3124-4C4D-A316-78367541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57550"/>
            <a:ext cx="314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of reviewed content overlapped across teams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6DCCBA-B0FB-491C-9ABE-C5177DF04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143125"/>
            <a:ext cx="619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The comparison covered source material, finished content, and planned deliverables across functions.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7AEF45-E918-4BF9-A308-24B6483CA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2385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CDD362-7BDF-4659-A9A0-D8BC73B4E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143250"/>
            <a:ext cx="598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Teams found material they could reuse immediately.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BA7190-F04F-412D-B929-64BD59CB5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7528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C7481E-90EB-41A8-A205-B62071484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657600"/>
            <a:ext cx="598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Missing content surfaced earlier in the lifecycle.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2C95E1-9085-4479-853E-9CB9C537F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2672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4BAF76-1869-488D-97F9-B2B71170C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171950"/>
            <a:ext cx="598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The audit gave teams a practical way to divide the work.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98E261-4DC4-492D-87A6-09B051AD8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7815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BA66B2-F29E-4C1C-90F1-FA82CD38E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686300"/>
            <a:ext cx="598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The method could be repeated on later launches.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7332A0-DA1B-4A0D-95AE-5EA7292C1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150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817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A8179"/>
                </a:solidFill>
                <a:latin typeface="Arial"/>
                <a:ea typeface="Arial"/>
                <a:cs typeface="Arial"/>
              </a:rPr>
              <a:t>Source: supplied unified content strategy case study</a:t>
            </a:r>
          </a:p>
        </p:txBody>
      </p:sp>
    </p:spTree>
    <p:extLst>
      <p:ext uri="{BB962C8B-B14F-4D97-AF65-F5344CB8AC3E}">
        <p14:creationId xmlns:p14="http://schemas.microsoft.com/office/powerpoint/2010/main" val="156603839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215515-C50B-4F74-A9FC-043C75C8A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03  THE PRODUCT LAUNCH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FE2160-1AC5-4F36-A6D4-FF56973A3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8293A4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293A4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9D0D04-1422-406A-93D3-3F6F95147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stakeholder map clarified involvement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A4E223-5023-49BE-A5D9-B0B66055E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Business direction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052911-2E27-47A3-8365-5C3BCC92F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D6A0FD-DCDE-4E82-B4B5-8ACB75337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23336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C1CDD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1CDD6"/>
                </a:solidFill>
                <a:latin typeface="Arial"/>
                <a:ea typeface="Arial"/>
                <a:cs typeface="Arial"/>
              </a:rPr>
              <a:t>Product management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C1CDD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1CDD6"/>
                </a:solidFill>
                <a:latin typeface="Arial"/>
                <a:ea typeface="Arial"/>
                <a:cs typeface="Arial"/>
              </a:rPr>
              <a:t>Product marketing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C1CDD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1CDD6"/>
                </a:solidFill>
                <a:latin typeface="Arial"/>
                <a:ea typeface="Arial"/>
                <a:cs typeface="Arial"/>
              </a:rPr>
              <a:t>Subject experts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870BAA-404B-4B67-9DC4-FB89DC234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0955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Content creation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7983A6-769C-4B87-BEE8-3E9191A25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781300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B8A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182B73-0029-4176-9E5D-30F7454D5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048000"/>
            <a:ext cx="23336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C1CDD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1CDD6"/>
                </a:solidFill>
                <a:latin typeface="Arial"/>
                <a:ea typeface="Arial"/>
                <a:cs typeface="Arial"/>
              </a:rPr>
              <a:t>Technical publications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C1CDD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1CDD6"/>
                </a:solidFill>
                <a:latin typeface="Arial"/>
                <a:ea typeface="Arial"/>
                <a:cs typeface="Arial"/>
              </a:rPr>
              <a:t>Customer education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C1CDD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1CDD6"/>
                </a:solidFill>
                <a:latin typeface="Arial"/>
                <a:ea typeface="Arial"/>
                <a:cs typeface="Arial"/>
              </a:rPr>
              <a:t>Instructional design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2DCDBB-4F86-4E97-8946-A65BC4B4F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955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Experience delivery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B90E80-CCC0-401A-B16A-A31CAD165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781300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A93B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70E069-40F7-4EC4-B687-70AE6B712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048000"/>
            <a:ext cx="23336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C1CDD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1CDD6"/>
                </a:solidFill>
                <a:latin typeface="Arial"/>
                <a:ea typeface="Arial"/>
                <a:cs typeface="Arial"/>
              </a:rPr>
              <a:t>Customer support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C1CDD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1CDD6"/>
                </a:solidFill>
                <a:latin typeface="Arial"/>
                <a:ea typeface="Arial"/>
                <a:cs typeface="Arial"/>
              </a:rPr>
              <a:t>Field service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C1CDD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1CDD6"/>
                </a:solidFill>
                <a:latin typeface="Arial"/>
                <a:ea typeface="Arial"/>
                <a:cs typeface="Arial"/>
              </a:rPr>
              <a:t>Sales enablement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03059D-A41D-4B15-9E73-424EAAF9D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955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Platform and assets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98260E-DC99-4C2D-873E-E3831A9DA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781300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89A5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95BE36-31B6-41BC-8AFC-F8E0C796A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048000"/>
            <a:ext cx="23336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C1CDD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1CDD6"/>
                </a:solidFill>
                <a:latin typeface="Arial"/>
                <a:ea typeface="Arial"/>
                <a:cs typeface="Arial"/>
              </a:rPr>
              <a:t>IT and CMS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C1CDD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1CDD6"/>
                </a:solidFill>
                <a:latin typeface="Arial"/>
                <a:ea typeface="Arial"/>
                <a:cs typeface="Arial"/>
              </a:rPr>
              <a:t>CAD and mechanical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C1CDD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1CDD6"/>
                </a:solidFill>
                <a:latin typeface="Arial"/>
                <a:ea typeface="Arial"/>
                <a:cs typeface="Arial"/>
              </a:rPr>
              <a:t>Rich media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A0050B-BD95-4472-BD36-E57CF1111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096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Weekly meetings exposed dependencies. Sponsors settled ownership and platform decisions when the teams reached an impasse.</a:t>
            </a:r>
          </a:p>
        </p:txBody>
      </p:sp>
    </p:spTree>
    <p:extLst>
      <p:ext uri="{BB962C8B-B14F-4D97-AF65-F5344CB8AC3E}">
        <p14:creationId xmlns:p14="http://schemas.microsoft.com/office/powerpoint/2010/main" val="101806480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5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697C7C-80B9-41D4-85CB-8EA1870E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03  THE PRODUCT LAUNCH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D97C97-905A-4870-B4AF-D5F34206B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8A8179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A817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841E79-A66F-4F07-BFD3-6F33A7802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One approved topic can support many formats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EF1C71-CF6A-457F-9879-671728F50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2000250" cy="876300"/>
          </a:xfrm>
          <a:prstGeom xmlns:a="http://schemas.openxmlformats.org/drawingml/2006/main" prst="roundRect">
            <a:avLst>
              <a:gd name="adj" fmla="val 16304"/>
            </a:avLst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155A10-F701-4352-9043-6879E4DAB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76550"/>
            <a:ext cx="161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Approved source topic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1AFB9D-5769-4916-826D-2498CE383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952625"/>
            <a:ext cx="1952625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B1B2A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C1D5A7-0978-4B0C-825A-B421869A0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028825"/>
            <a:ext cx="17240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User manual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371FB4-545C-47AA-A73B-235C6822B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143250"/>
            <a:ext cx="66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EDC148-28CD-46E2-BB17-23280D025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52625"/>
            <a:ext cx="1952625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B1B2A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98E634-E06F-43CB-8725-F12BA9F44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028825"/>
            <a:ext cx="17240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Tutorial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BA7ACD-AA4D-4AC7-8780-92115AFD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257550"/>
            <a:ext cx="66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A2A79A-3AE9-47B2-A795-6D32B369F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952625"/>
            <a:ext cx="1952625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B1B2A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555E50-4815-44AC-B9CE-63D883400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028825"/>
            <a:ext cx="17240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Pre-sales training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FB7A22-50C4-4F17-BBED-D1D5A37E0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143250"/>
            <a:ext cx="66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92A6DB-ACD5-4E73-9685-06FF3ED6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000500"/>
            <a:ext cx="1952625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B1B2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B85BB2-7032-4C17-A2F4-6BA6BC38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076700"/>
            <a:ext cx="17240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eLearning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29273B-C4A1-4DF1-B19F-19E2D8AA1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257550"/>
            <a:ext cx="66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B8A5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9BF46B-448B-467E-8DFF-D65CD8CBF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00500"/>
            <a:ext cx="1952625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B1B2A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B09599-28A2-41C9-9412-EA69FB2C9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076700"/>
            <a:ext cx="17240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Field training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9CFD83-8246-48FB-9F9B-A03BFCC18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143250"/>
            <a:ext cx="66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B8A5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90A0DA-9490-4749-AAA6-AF3685E1A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000500"/>
            <a:ext cx="1952625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B1B2A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B57994-04CD-430D-B856-7A4C6925B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076700"/>
            <a:ext cx="17240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Interactive manual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C9D3DB1-E05A-4C9C-8EF5-05D5C3B22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257550"/>
            <a:ext cx="66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B8A5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37842D-442E-4FD9-B60C-F3291C4B7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Reuse depends on modular source content, clear ownership, and reliable updates.</a:t>
            </a:r>
          </a:p>
        </p:txBody>
      </p:sp>
    </p:spTree>
    <p:extLst>
      <p:ext uri="{BB962C8B-B14F-4D97-AF65-F5344CB8AC3E}">
        <p14:creationId xmlns:p14="http://schemas.microsoft.com/office/powerpoint/2010/main" val="167269080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B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82BADE-5A3D-479D-BA67-96B9A8F42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04  CONTENT AS A BUSINESS ASSET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2A9703-DCDC-4F6E-9F58-E11E2938E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8293A4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293A4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4735E0-DDEA-4773-8476-BE2453A55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asset extends beyond the finished page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F53F55-4B7F-4F89-889A-8F15E4FDE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E1B455-FA38-4FCE-8FF7-9A1CE3F64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9621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Published content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F0FB2C-7E58-497C-B32F-A30C5330B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62150"/>
            <a:ext cx="619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C4CE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C4CED7"/>
                </a:solidFill>
                <a:latin typeface="Arial"/>
                <a:ea typeface="Arial"/>
                <a:cs typeface="Arial"/>
              </a:rPr>
              <a:t>Campaigns, documentation, training, service content, and channel adaptations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7C0C56-9E67-43AC-B15B-65E2B02C9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9087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5B8A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5B8A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0BE882-F9A6-417E-89C3-4860DB45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15277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Reusable knowledge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271441-4EBF-49BB-96FF-AA2548AEE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152775"/>
            <a:ext cx="619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C4CE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C4CED7"/>
                </a:solidFill>
                <a:latin typeface="Arial"/>
                <a:ea typeface="Arial"/>
                <a:cs typeface="Arial"/>
              </a:rPr>
              <a:t>Audience definitions, messaging, approved claims, proof, and creative guidance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16D8BC-602E-489D-94D9-96F92D7D7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A93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E2A93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248C63-3FAC-46AC-B60C-1919533B1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3434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Validated learning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2255C3-D94D-460D-8041-29061B3FB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343400"/>
            <a:ext cx="619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C4CED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C4CED7"/>
                </a:solidFill>
                <a:latin typeface="Arial"/>
                <a:ea typeface="Arial"/>
                <a:cs typeface="Arial"/>
              </a:rPr>
              <a:t>Performance evidence that improves the next decision and prevents repeated research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05ED3C-3C8E-40AF-9023-90C5B7E53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28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97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These resources retain value when the organization can find them, trust them, adapt them, and maintain them.</a:t>
            </a:r>
          </a:p>
        </p:txBody>
      </p:sp>
    </p:spTree>
    <p:extLst>
      <p:ext uri="{BB962C8B-B14F-4D97-AF65-F5344CB8AC3E}">
        <p14:creationId xmlns:p14="http://schemas.microsoft.com/office/powerpoint/2010/main" val="190675311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5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1DE1A9-7683-4ADF-AA93-7B8856873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04  CONTENT AS A BUSINESS ASSET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A2B331-004D-4CE9-AE59-AA11DEC6E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8A8179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A817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4B9FB4-0BBC-4BAC-9B46-8B5F986EA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The content value equation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B3C0C2-23B1-4B06-8BD1-24CA682EA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The calculation combines economic benefit with the full cost of ownership.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0436D1-274E-4AF5-A383-DE56AC685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0820400" cy="1066800"/>
          </a:xfrm>
          <a:prstGeom xmlns:a="http://schemas.openxmlformats.org/drawingml/2006/main" prst="roundRect">
            <a:avLst>
              <a:gd name="adj" fmla="val 16071"/>
            </a:avLst>
          </a:prstGeom>
          <a:solidFill xmlns:a="http://schemas.openxmlformats.org/drawingml/2006/main">
            <a:srgbClr val="0B1B2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957F62-0355-4026-9B67-D609423C2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81250"/>
            <a:ext cx="10191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Content value = reuse + efficiency + speed + quality + performance - creation, governance, and maintenance cost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49242D-63A1-4321-A16A-772B452D3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Reuse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9DA0F1-5E1F-449D-A607-7D9D2DFDE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1857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Work avoided through valid adaptation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628DAD-7EAE-4759-B0F3-D76DC9DEC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390525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5B8A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5B8A5"/>
                </a:solidFill>
                <a:latin typeface="Arial"/>
                <a:ea typeface="Arial"/>
                <a:cs typeface="Arial"/>
              </a:rPr>
              <a:t>Efficiency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4E632F-C9C7-49C1-8BF1-90B91CB03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4305300"/>
            <a:ext cx="1857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Labor hours saved across volume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7B19B0-92D6-49C5-A0F9-1C4EC0E1B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90525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E2A9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E2A93B"/>
                </a:solidFill>
                <a:latin typeface="Arial"/>
                <a:ea typeface="Arial"/>
                <a:cs typeface="Arial"/>
              </a:rPr>
              <a:t>Speed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D2D6CB-AFA3-4F83-B219-C5AEA5F29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305300"/>
            <a:ext cx="1857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Business contribution from an earlier launch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6BE935-C8E5-473F-8623-C1FA81D23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390525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7189A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7189A5"/>
                </a:solidFill>
                <a:latin typeface="Arial"/>
                <a:ea typeface="Arial"/>
                <a:cs typeface="Arial"/>
              </a:rPr>
              <a:t>Quality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AEDD42-C761-4AD4-A4CD-92563C756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4305300"/>
            <a:ext cx="1857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Lower rework, review, and error cost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E38D15-879B-4D8E-956E-572D7DE15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90525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Performance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E7B3AC-17E4-4AC9-89F5-4CED4B27A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305300"/>
            <a:ext cx="1857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Incremental outcomes with an economic value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A4F78B-A65E-4DC3-8448-58877F3D6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Count each benefit once. Document the baseline, volume, rate, and attribution assumption.</a:t>
            </a:r>
          </a:p>
        </p:txBody>
      </p:sp>
    </p:spTree>
    <p:extLst>
      <p:ext uri="{BB962C8B-B14F-4D97-AF65-F5344CB8AC3E}">
        <p14:creationId xmlns:p14="http://schemas.microsoft.com/office/powerpoint/2010/main" val="681063796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5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5F2020-CE58-4AC6-9E43-9A882467C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04  CONTENT AS A BUSINESS ASSET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3B5DA8-CD0C-477C-AE80-C83828F2D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8A8179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A817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948811-9965-449C-B34D-F6E3CD774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Five calculations support the asset case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17EDB9-0C33-4E6B-B1B5-FE220B5F0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Use ranges when attribution remains uncertain.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85800" y="2190750"/>
          <a:ext xmlns:a="http://schemas.openxmlformats.org/drawingml/2006/main" cx="108204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62125"/>
                <a:gridCol w="4714875"/>
                <a:gridCol w="4343400"/>
              </a:tblGrid>
              <a:tr h="57943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Value source</a:t>
                      </a:r>
                    </a:p>
                  </a:txBody>
                  <a:tcPr marL="114300" marR="114300" marT="66675" marB="66675" anchor="ctr">
                    <a:solidFill>
                      <a:srgbClr val="0B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Working calculation</a:t>
                      </a:r>
                    </a:p>
                  </a:txBody>
                  <a:tcPr marL="114300" marR="114300" marT="66675" marB="66675" anchor="ctr">
                    <a:solidFill>
                      <a:srgbClr val="0B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Evidence</a:t>
                      </a:r>
                    </a:p>
                  </a:txBody>
                  <a:tcPr marL="114300" marR="114300" marT="66675" marB="66675" anchor="ctr">
                    <a:solidFill>
                      <a:srgbClr val="0B1B2A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088" b="1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Reuse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88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(new creation cost - adaptation cost) x valid reuses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88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Reuse log, derivatives, roadmap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088" b="1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Efficiency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88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hours saved x volume x loaded hourly cost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88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Time study, workflow records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088" b="1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Speed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88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contribution attributable to launching earlier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88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Launch date, baseline, business result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088" b="1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Quality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88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rework + review + error savings + attributable gain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88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Audit, incidents, review and performance data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088" b="1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Performance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88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incremental outcomes x economic value per outcome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88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Control or baseline, CRM and campaign data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229A3D-773C-4D49-B38D-16A639FF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Avoid monetizing days saved or quality points without a supported economic consequence.</a:t>
            </a:r>
          </a:p>
        </p:txBody>
      </p:sp>
    </p:spTree>
    <p:extLst>
      <p:ext uri="{BB962C8B-B14F-4D97-AF65-F5344CB8AC3E}">
        <p14:creationId xmlns:p14="http://schemas.microsoft.com/office/powerpoint/2010/main" val="150171289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B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654354-C2E0-46FC-A684-C3CF062BA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04  CONTENT AS A BUSINESS ASSET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17E489-8D63-47C1-B916-52FE1FA25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8293A4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293A4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CA9968-8581-4206-B445-AB1CAD8A6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Quality evidence and dollar value answer different questions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39F88A-7447-4023-A7C6-58B3D498C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827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Quality score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DEE611-2022-4087-A34F-D2CB163FD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28875"/>
            <a:ext cx="419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Proves whether the content improved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00E9A1-D273-4D8E-9DE4-F7AE0C0F2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0375"/>
            <a:ext cx="4476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C6D0D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6D0D8"/>
                </a:solidFill>
                <a:latin typeface="Arial"/>
                <a:ea typeface="Arial"/>
                <a:cs typeface="Arial"/>
              </a:rPr>
              <a:t>Weighted score = sum of each quality dimension score x its weight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B2E809-9A38-4058-B638-BC37EF919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52625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827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65B8A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65B8A5"/>
                </a:solidFill>
                <a:latin typeface="Arial"/>
                <a:ea typeface="Arial"/>
                <a:cs typeface="Arial"/>
              </a:rPr>
              <a:t>Quality value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240685-ABAF-4E98-9DE3-2C60D3969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28875"/>
            <a:ext cx="419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Shows the economic consequence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49C48F-CEDD-474E-AC14-8B1CAA688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00375"/>
            <a:ext cx="4476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C6D0D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6D0D8"/>
                </a:solidFill>
                <a:latin typeface="Arial"/>
                <a:ea typeface="Arial"/>
                <a:cs typeface="Arial"/>
              </a:rPr>
              <a:t>Rework savings + review savings + error or risk savings + attributable performance gain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C0D0DF-FA03-4DED-BC33-F63D11F14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48200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7ED411-9F2E-4F63-9FC7-51D7DD4EE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Do not assign dollars directly to a quality score. Prove improvement first, then value the resulting savings or performance.</a:t>
            </a:r>
          </a:p>
        </p:txBody>
      </p:sp>
    </p:spTree>
    <p:extLst>
      <p:ext uri="{BB962C8B-B14F-4D97-AF65-F5344CB8AC3E}">
        <p14:creationId xmlns:p14="http://schemas.microsoft.com/office/powerpoint/2010/main" val="95025704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5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C5C408-DEBB-4210-BC3F-83C4F5616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04  CONTENT AS A BUSINESS ASSET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D36FE4-2361-4EF0-89AB-D6162CC36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8A8179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A817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C3982B-C40C-474F-A1BE-4C30313B9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The scorecard connects asset quality to economics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85800" y="1762125"/>
          <a:ext xmlns:a="http://schemas.openxmlformats.org/drawingml/2006/main" cx="108204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4857750"/>
                <a:gridCol w="2533650"/>
              </a:tblGrid>
              <a:tr h="55789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Executive question</a:t>
                      </a:r>
                    </a:p>
                  </a:txBody>
                  <a:tcPr marL="114300" marR="114300" marT="66675" marB="66675" anchor="ctr">
                    <a:solidFill>
                      <a:srgbClr val="0B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Metric</a:t>
                      </a:r>
                    </a:p>
                  </a:txBody>
                  <a:tcPr marL="114300" marR="114300" marT="66675" marB="66675" anchor="ctr">
                    <a:solidFill>
                      <a:srgbClr val="0B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Desired direction</a:t>
                      </a:r>
                    </a:p>
                  </a:txBody>
                  <a:tcPr marL="114300" marR="114300" marT="66675" marB="66675" anchor="ctr">
                    <a:solidFill>
                      <a:srgbClr val="0B1B2A"/>
                    </a:solidFill>
                  </a:tcPr>
                </a:tc>
              </a:tr>
              <a:tr h="557893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Did quality improve?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Quality score and first-pass acceptance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Improve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</a:tr>
              <a:tr h="557893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Did the workflow get faster?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Time to approved asset or campaign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Decrease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</a:tr>
              <a:tr h="557893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Did waste fall?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Review and rework hours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Decrease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</a:tr>
              <a:tr h="557893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Did reuse increase?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Content and knowledge reuse rate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Increase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</a:tr>
              <a:tr h="557893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Did economics improve?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Cost per approved high-quality asset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Decrease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</a:tr>
              <a:tr h="557893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Did the investment pay off?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ROI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172737"/>
                          </a:solidFill>
                          <a:latin typeface="Arial"/>
                          <a:ea typeface="Arial"/>
                          <a:cs typeface="Arial"/>
                        </a:rPr>
                        <a:t>Positive and improving</a:t>
                      </a:r>
                    </a:p>
                  </a:txBody>
                  <a:tcPr marL="114300" marR="114300" marT="66675" marB="66675" anchor="ctr"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095C43-3AFC-413D-B10D-E8050694A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For AI-enabled workflows, include models, retrieval, evaluation, governance, human review, and maintenance in total investment.</a:t>
            </a:r>
          </a:p>
        </p:txBody>
      </p:sp>
    </p:spTree>
    <p:extLst>
      <p:ext uri="{BB962C8B-B14F-4D97-AF65-F5344CB8AC3E}">
        <p14:creationId xmlns:p14="http://schemas.microsoft.com/office/powerpoint/2010/main" val="107821958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B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DA2EF4-F77C-49CE-9632-E5A01005D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04  CONTENT AS A BUSINESS ASSET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97459E-E722-4339-9FFB-A35A0B68B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8293A4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293A4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B9D868-37B1-4C68-9F41-F8EFF0363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 asset register makes value maintainable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1238250" y="1952625"/>
          <a:ext xmlns:a="http://schemas.openxmlformats.org/drawingml/2006/main" cx="9715500" cy="3619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6762750"/>
              </a:tblGrid>
              <a:tr h="517071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Record</a:t>
                      </a:r>
                    </a:p>
                  </a:txBody>
                  <a:tcPr marL="133350" marR="133350" marT="66675" marB="66675" anchor="ctr">
                    <a:solidFill>
                      <a:srgbClr val="D765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Purpose</a:t>
                      </a:r>
                    </a:p>
                  </a:txBody>
                  <a:tcPr marL="133350" marR="133350" marT="66675" marB="66675" anchor="ctr">
                    <a:solidFill>
                      <a:srgbClr val="D76532"/>
                    </a:solidFill>
                  </a:tcPr>
                </a:tc>
              </a:tr>
              <a:tr h="51707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Stable asset ID</a:t>
                      </a:r>
                    </a:p>
                  </a:txBody>
                  <a:tcPr marL="133350" marR="133350" marT="66675" marB="66675" anchor="ctr">
                    <a:solidFill>
                      <a:srgbClr val="14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Tracks the source across systems and derivatives</a:t>
                      </a:r>
                    </a:p>
                  </a:txBody>
                  <a:tcPr marL="133350" marR="133350" marT="66675" marB="66675" anchor="ctr">
                    <a:solidFill>
                      <a:srgbClr val="142B40"/>
                    </a:solidFill>
                  </a:tcPr>
                </a:tc>
              </a:tr>
              <a:tr h="51707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Owner and steward</a:t>
                      </a:r>
                    </a:p>
                  </a:txBody>
                  <a:tcPr marL="133350" marR="133350" marT="66675" marB="66675" anchor="ctr">
                    <a:solidFill>
                      <a:srgbClr val="14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Names decision and maintenance responsibility</a:t>
                      </a:r>
                    </a:p>
                  </a:txBody>
                  <a:tcPr marL="133350" marR="133350" marT="66675" marB="66675" anchor="ctr">
                    <a:solidFill>
                      <a:srgbClr val="142B40"/>
                    </a:solidFill>
                  </a:tcPr>
                </a:tc>
              </a:tr>
              <a:tr h="51707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Audience and task</a:t>
                      </a:r>
                    </a:p>
                  </a:txBody>
                  <a:tcPr marL="133350" marR="133350" marT="66675" marB="66675" anchor="ctr">
                    <a:solidFill>
                      <a:srgbClr val="14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Connects the asset to customer value</a:t>
                      </a:r>
                    </a:p>
                  </a:txBody>
                  <a:tcPr marL="133350" marR="133350" marT="66675" marB="66675" anchor="ctr">
                    <a:solidFill>
                      <a:srgbClr val="142B40"/>
                    </a:solidFill>
                  </a:tcPr>
                </a:tc>
              </a:tr>
              <a:tr h="51707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Sources and derivatives</a:t>
                      </a:r>
                    </a:p>
                  </a:txBody>
                  <a:tcPr marL="133350" marR="133350" marT="66675" marB="66675" anchor="ctr">
                    <a:solidFill>
                      <a:srgbClr val="14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Shows lineage and reuse</a:t>
                      </a:r>
                    </a:p>
                  </a:txBody>
                  <a:tcPr marL="133350" marR="133350" marT="66675" marB="66675" anchor="ctr">
                    <a:solidFill>
                      <a:srgbClr val="142B40"/>
                    </a:solidFill>
                  </a:tcPr>
                </a:tc>
              </a:tr>
              <a:tr h="51707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Cost and value evidence</a:t>
                      </a:r>
                    </a:p>
                  </a:txBody>
                  <a:tcPr marL="133350" marR="133350" marT="66675" marB="66675" anchor="ctr">
                    <a:solidFill>
                      <a:srgbClr val="14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Supports investment and retirement decisions</a:t>
                      </a:r>
                    </a:p>
                  </a:txBody>
                  <a:tcPr marL="133350" marR="133350" marT="66675" marB="66675" anchor="ctr">
                    <a:solidFill>
                      <a:srgbClr val="142B40"/>
                    </a:solidFill>
                  </a:tcPr>
                </a:tc>
              </a:tr>
              <a:tr h="51707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Review date and status</a:t>
                      </a:r>
                    </a:p>
                  </a:txBody>
                  <a:tcPr marL="133350" marR="133350" marT="66675" marB="66675" anchor="ctr">
                    <a:solidFill>
                      <a:srgbClr val="142B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Prevents silent decay</a:t>
                      </a:r>
                    </a:p>
                  </a:txBody>
                  <a:tcPr marL="133350" marR="133350" marT="66675" marB="66675" anchor="ctr">
                    <a:solidFill>
                      <a:srgbClr val="142B4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2965285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5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0FC7A6-A14B-4892-B9CF-5B3DBD641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04  CONTENT AS A BUSINESS ASSET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5E361D-6FCA-4E18-A19D-749356D14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8A8179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A817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A45849-1429-4998-A53B-5CB2B9955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Value changes what the team does next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3BE6FE-CAB8-4C6F-B3B2-36694DD26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428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Invest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BE6270-25A4-4E2E-A878-5B73F2E7A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High importance, strong evidence, weak condition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E3977E-4781-4703-9E40-3C7090729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Improve the source and close the highest-value gaps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2C61C6-4E17-4F77-B6B5-100FCC8BC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8097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428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65B8A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65B8A5"/>
                </a:solidFill>
                <a:latin typeface="Arial"/>
                <a:ea typeface="Arial"/>
                <a:cs typeface="Arial"/>
              </a:rPr>
              <a:t>Maintain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46777E-BBF9-420B-A2F9-99117D1F6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3050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High value, healthy condition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9F00F8-EE58-490D-A8FC-A4AF62CA2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7622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Fund review, governance, and controlled reuse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CF70F1-62A9-4AAF-B281-E3FA3D1A0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428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E2A93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2A93B"/>
                </a:solidFill>
                <a:latin typeface="Arial"/>
                <a:ea typeface="Arial"/>
                <a:cs typeface="Arial"/>
              </a:rPr>
              <a:t>Consolidate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5E33A2-E05B-4C88-9031-B1CF73BEA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52925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Useful content with costly duplication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3162A7-0881-4BB2-9FC0-2E71C261E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Choose a source, merge variants, and redirect traffic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6E4597-22E8-42E7-894E-50000B197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85762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428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7189A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7189A5"/>
                </a:solidFill>
                <a:latin typeface="Arial"/>
                <a:ea typeface="Arial"/>
                <a:cs typeface="Arial"/>
              </a:rPr>
              <a:t>Retire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7A6713-583A-43B3-BD96-940B02805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352925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Low use, low value, or superseded guidance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18D293-BEBC-4B1E-BBC2-C7E919B11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810125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B7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Archive safely and preserve required records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2AB2D1-8F2C-4523-9F6C-E8EC9BAB1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81700"/>
            <a:ext cx="1019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The register and scorecard turn a content audit into a funding conversation.</a:t>
            </a:r>
          </a:p>
        </p:txBody>
      </p:sp>
    </p:spTree>
    <p:extLst>
      <p:ext uri="{BB962C8B-B14F-4D97-AF65-F5344CB8AC3E}">
        <p14:creationId xmlns:p14="http://schemas.microsoft.com/office/powerpoint/2010/main" val="25872053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B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4D9B1B-F967-4995-AFDD-8158604D5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05  LESSONS AND NEXT STEPS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3D25EB-DF25-4599-A237-A6C798731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8293A4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293A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53138D-05B5-43F3-9589-089DC970E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Four lessons from the pilot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AB0F29-8658-41EA-8DB0-AAC4A7E6F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Ownership affects adoption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BCC4ED-96E4-4E53-8AB2-0DC3029B7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90775"/>
            <a:ext cx="9048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B2FD3C-14A4-480E-A208-DC6A7808F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43175"/>
            <a:ext cx="476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C1CCD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1CCD5"/>
                </a:solidFill>
                <a:latin typeface="Arial"/>
                <a:ea typeface="Arial"/>
                <a:cs typeface="Arial"/>
              </a:rPr>
              <a:t>Changes in tools, control, and recognition need explicit decisions.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0DFFD4-2592-4CA3-98FF-31E8E4777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952625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Participation must be easy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EC207A-4929-42F4-9667-21F4F3A19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390775"/>
            <a:ext cx="9048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B8A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C74276-2217-44A8-80E1-3DF1E955B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543175"/>
            <a:ext cx="476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C1CCD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1CCD5"/>
                </a:solidFill>
                <a:latin typeface="Arial"/>
                <a:ea typeface="Arial"/>
                <a:cs typeface="Arial"/>
              </a:rPr>
              <a:t>Occasional contributors need a clear entry point and useful templates.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3BFD98-A6DB-4E3F-9661-CB994D550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Sponsors remove roadblocks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A17CDF-F720-4770-BDE3-28BDE43D9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05275"/>
            <a:ext cx="9048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A93B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EBF27C-2A7B-4BA4-B411-648F0AC5B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57675"/>
            <a:ext cx="476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C1CCD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1CCD5"/>
                </a:solidFill>
                <a:latin typeface="Arial"/>
                <a:ea typeface="Arial"/>
                <a:cs typeface="Arial"/>
              </a:rPr>
              <a:t>Some cross-team choices need a leader with authority.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110F21-59CA-41ED-830B-A2351349C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667125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Shared measures settle debates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C46F04-C067-438B-A0FB-B06B6C724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105275"/>
            <a:ext cx="9048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89A5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80E1C1-D843-4AE9-A372-347DC285D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257675"/>
            <a:ext cx="476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C1CCD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1CCD5"/>
                </a:solidFill>
                <a:latin typeface="Arial"/>
                <a:ea typeface="Arial"/>
                <a:cs typeface="Arial"/>
              </a:rPr>
              <a:t>Customer outcomes and team effort create a common basis for decisions.</a:t>
            </a:r>
          </a:p>
        </p:txBody>
      </p:sp>
    </p:spTree>
    <p:extLst>
      <p:ext uri="{BB962C8B-B14F-4D97-AF65-F5344CB8AC3E}">
        <p14:creationId xmlns:p14="http://schemas.microsoft.com/office/powerpoint/2010/main" val="42083754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5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5CC04B-6960-4A83-9BBB-A932C81AF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05  LESSONS AND NEXT STEPS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B308D5-F240-48ED-9E7E-204EBBB2F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8A8179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A817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BC5657-517F-4E4E-AE7B-564E74B4D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A 90-day starting plan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4FBD4B-C391-4C7C-B6B3-C37C32895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295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Days 1–30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24F62C-F9BB-4B3F-A7FC-0BE4ACACB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3143250" cy="2381250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0C7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0E2FAA-E120-429B-AA15-5860E5E50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2714625"/>
            <a:ext cx="2667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Choose one difficult customer journey. Map the teams, content, owners, and current measures.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EE4525-F2F4-4E7F-96D3-339707F53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952625"/>
            <a:ext cx="295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Days 31–60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0428E2-73F8-48D7-9D48-4D5E37839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476500"/>
            <a:ext cx="3143250" cy="2381250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0C7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04570D-AA06-4F24-B5DD-06C15C1BC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714625"/>
            <a:ext cx="2667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Run a cross-functional audit. Record reuse, gaps, costs, and business evidence.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AB487F-E921-4326-9FA6-6C5707EE2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952625"/>
            <a:ext cx="295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Days 61–90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8DE543-30D5-4BA1-B027-9931A0C30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76500"/>
            <a:ext cx="3143250" cy="2381250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0C7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AC7A68-33AB-4651-841A-2F8D5438B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714625"/>
            <a:ext cx="2667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Test the workflow and valuation scorecard. Make one invest, consolidate, maintain, or retire decision.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7C080B-E595-4434-B4AF-CCD36EE7A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72125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73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737"/>
                </a:solidFill>
                <a:latin typeface="Arial"/>
                <a:ea typeface="Arial"/>
                <a:cs typeface="Arial"/>
              </a:rPr>
              <a:t>Start where coordination pain and customer value are both visible.</a:t>
            </a:r>
          </a:p>
        </p:txBody>
      </p:sp>
    </p:spTree>
    <p:extLst>
      <p:ext uri="{BB962C8B-B14F-4D97-AF65-F5344CB8AC3E}">
        <p14:creationId xmlns:p14="http://schemas.microsoft.com/office/powerpoint/2010/main" val="415256861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B1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8AB7EA-325F-444D-8C2E-13BCBDFCE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05  LESSONS AND NEXT STEPS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877B10-3E92-4779-A391-B1F2ECDA1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8293A4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293A4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C0D06B-9B78-4A31-9158-F58972D7A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Make the value visible, then manage 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086BB1-38DB-41B7-8D99-4CE8A3CFA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28875"/>
            <a:ext cx="8858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C4CFD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C4CFD7"/>
                </a:solidFill>
                <a:latin typeface="Arial"/>
                <a:ea typeface="Arial"/>
                <a:cs typeface="Arial"/>
              </a:rPr>
              <a:t>Connect each asset to a customer task, an accountable owner, evidence of use, and a lifecycle decision.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E2C4F5-EB94-4E44-9031-61BB1D32B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838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6532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CBF0B9-F9ED-4410-876B-BC920E71C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9810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Begin with one journey. Find the overlap. Record the value. Fund the next decision.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8771C3-7C76-4A0B-A006-D03CC15B0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D7653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76532"/>
                </a:solidFill>
                <a:latin typeface="Arial"/>
                <a:ea typeface="Arial"/>
                <a:cs typeface="Arial"/>
              </a:rPr>
              <a:t>Questions</a:t>
            </a:r>
          </a:p>
        </p:txBody>
      </p:sp>
    </p:spTree>
    <p:extLst>
      <p:ext uri="{BB962C8B-B14F-4D97-AF65-F5344CB8AC3E}">
        <p14:creationId xmlns:p14="http://schemas.microsoft.com/office/powerpoint/2010/main" val="1809517523"/>
      </p:ext>
    </p:extLst>
  </p:cSld>
</p:sld>
</file>

<file path=ppt/theme/theme1.xml><?xml version="1.0" encoding="utf-8"?>
<a:theme xmlns:a="http://schemas.openxmlformats.org/drawingml/2006/main" name="ChatGPT">
  <a:themeElements>
    <a:clrScheme name="Business Asset">
      <a:dk1>
        <a:srgbClr val="000000"/>
      </a:dk1>
      <a:lt1>
        <a:srgbClr val="FFFFFF"/>
      </a:lt1>
      <a:dk2>
        <a:srgbClr val="0B1B2A"/>
      </a:dk2>
      <a:lt2>
        <a:srgbClr val="F5F0E8"/>
      </a:lt2>
      <a:accent1>
        <a:srgbClr val="D76532"/>
      </a:accent1>
      <a:accent2>
        <a:srgbClr val="65B8A5"/>
      </a:accent2>
      <a:accent3>
        <a:srgbClr val="E2A93B"/>
      </a:accent3>
      <a:accent4>
        <a:srgbClr val="7189A5"/>
      </a:accent4>
      <a:accent5>
        <a:srgbClr val="142B40"/>
      </a:accent5>
      <a:accent6>
        <a:srgbClr val="E8E1D8"/>
      </a:accent6>
      <a:hlink>
        <a:srgbClr val="D76532"/>
      </a:hlink>
      <a:folHlink>
        <a:srgbClr val="7189A5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Business Asse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2026-09-20T22:43:35.6850000Z</dcterms:created>
  <dcterms:modified xsi:type="dcterms:W3CDTF">2026-09-20T22:43:35.6850000Z</dcterms:modified>
</coreProperties>
</file>