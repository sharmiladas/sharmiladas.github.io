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7cdb4940e0446a" /><Relationship Type="http://schemas.openxmlformats.org/officeDocument/2006/relationships/extended-properties" Target="/docProps/app.xml" Id="R8569e26064ce43ef" /><Relationship Type="http://schemas.openxmlformats.org/officeDocument/2006/relationships/officeDocument" Target="/ppt/presentation.xml" Id="R9f927b7132b148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d37a7b47234492"/>
  </p:sldMasterIdLst>
  <p:notesMasterIdLst>
    <p:notesMasterId xmlns:r="http://schemas.openxmlformats.org/officeDocument/2006/relationships" r:id="R31547eadf8444619"/>
  </p:notesMasterIdLst>
  <p:sldIdLst>
    <p:sldId xmlns:r="http://schemas.openxmlformats.org/officeDocument/2006/relationships" id="256" r:id="Rbd3324cbb87c498d"/>
    <p:sldId xmlns:r="http://schemas.openxmlformats.org/officeDocument/2006/relationships" id="257" r:id="R00a719bfaa0c4edb"/>
    <p:sldId xmlns:r="http://schemas.openxmlformats.org/officeDocument/2006/relationships" id="258" r:id="Rbdb36f467c324949"/>
    <p:sldId xmlns:r="http://schemas.openxmlformats.org/officeDocument/2006/relationships" id="259" r:id="R8e368b53c09c40b4"/>
    <p:sldId xmlns:r="http://schemas.openxmlformats.org/officeDocument/2006/relationships" id="260" r:id="R512e29b4872349cf"/>
    <p:sldId xmlns:r="http://schemas.openxmlformats.org/officeDocument/2006/relationships" id="261" r:id="R076907e184244773"/>
    <p:sldId xmlns:r="http://schemas.openxmlformats.org/officeDocument/2006/relationships" id="262" r:id="R97f3a2d4036046ce"/>
    <p:sldId xmlns:r="http://schemas.openxmlformats.org/officeDocument/2006/relationships" id="263" r:id="R1e0fe71759414057"/>
    <p:sldId xmlns:r="http://schemas.openxmlformats.org/officeDocument/2006/relationships" id="264" r:id="R5308bca6c64e4404"/>
    <p:sldId xmlns:r="http://schemas.openxmlformats.org/officeDocument/2006/relationships" id="265" r:id="R11783590330d4f0b"/>
    <p:sldId xmlns:r="http://schemas.openxmlformats.org/officeDocument/2006/relationships" id="266" r:id="R4e29431b2692466e"/>
    <p:sldId xmlns:r="http://schemas.openxmlformats.org/officeDocument/2006/relationships" id="267" r:id="R78979e2ea0a1492b"/>
    <p:sldId xmlns:r="http://schemas.openxmlformats.org/officeDocument/2006/relationships" id="268" r:id="Rdf1e60e0cfcc4f3d"/>
    <p:sldId xmlns:r="http://schemas.openxmlformats.org/officeDocument/2006/relationships" id="269" r:id="R0bae079f75944008"/>
    <p:sldId xmlns:r="http://schemas.openxmlformats.org/officeDocument/2006/relationships" id="270" r:id="Rf87f3ec4d6df493c"/>
    <p:sldId xmlns:r="http://schemas.openxmlformats.org/officeDocument/2006/relationships" id="271" r:id="R16924f8c28224311"/>
    <p:sldId xmlns:r="http://schemas.openxmlformats.org/officeDocument/2006/relationships" id="272" r:id="Re5ec463be5c24a87"/>
    <p:sldId xmlns:r="http://schemas.openxmlformats.org/officeDocument/2006/relationships" id="273" r:id="Rfdbf1ecc07054558"/>
    <p:sldId xmlns:r="http://schemas.openxmlformats.org/officeDocument/2006/relationships" id="274" r:id="R2bb1c03ca23043df"/>
    <p:sldId xmlns:r="http://schemas.openxmlformats.org/officeDocument/2006/relationships" id="275" r:id="R03b81c99e79a44c2"/>
    <p:sldId xmlns:r="http://schemas.openxmlformats.org/officeDocument/2006/relationships" id="276" r:id="Re49243eb0e3f4e42"/>
    <p:sldId xmlns:r="http://schemas.openxmlformats.org/officeDocument/2006/relationships" id="277" r:id="R1e305d68be1b4136"/>
    <p:sldId xmlns:r="http://schemas.openxmlformats.org/officeDocument/2006/relationships" id="278" r:id="R49baa1406f4646b4"/>
    <p:sldId xmlns:r="http://schemas.openxmlformats.org/officeDocument/2006/relationships" id="279" r:id="R5c78d4d441d041d0"/>
    <p:sldId xmlns:r="http://schemas.openxmlformats.org/officeDocument/2006/relationships" id="280" r:id="Ra03e575b31ca4b3d"/>
    <p:sldId xmlns:r="http://schemas.openxmlformats.org/officeDocument/2006/relationships" id="281" r:id="Rf032b87e35314152"/>
    <p:sldId xmlns:r="http://schemas.openxmlformats.org/officeDocument/2006/relationships" id="282" r:id="R4df1ee1407d646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a02fa5eedc4116" /><Relationship Type="http://schemas.openxmlformats.org/officeDocument/2006/relationships/slideMaster" Target="/ppt/slideMasters/slideMaster1.xml" Id="R7cd37a7b47234492" /><Relationship Type="http://schemas.openxmlformats.org/officeDocument/2006/relationships/notesMaster" Target="/ppt/notesMasters/notesMaster1.xml" Id="R31547eadf8444619" /><Relationship Type="http://schemas.openxmlformats.org/officeDocument/2006/relationships/presProps" Target="/ppt/presProps.xml" Id="R80f75fac06754b35" /><Relationship Type="http://schemas.openxmlformats.org/officeDocument/2006/relationships/tableStyles" Target="/ppt/tableStyles.xml" Id="R518816ed514c45e0" /><Relationship Type="http://schemas.openxmlformats.org/officeDocument/2006/relationships/slide" Target="/ppt/slides/slide1.xml" Id="Rbd3324cbb87c498d" /><Relationship Type="http://schemas.openxmlformats.org/officeDocument/2006/relationships/slide" Target="/ppt/slides/slide2.xml" Id="R00a719bfaa0c4edb" /><Relationship Type="http://schemas.openxmlformats.org/officeDocument/2006/relationships/slide" Target="/ppt/slides/slide3.xml" Id="Rbdb36f467c324949" /><Relationship Type="http://schemas.openxmlformats.org/officeDocument/2006/relationships/slide" Target="/ppt/slides/slide4.xml" Id="R8e368b53c09c40b4" /><Relationship Type="http://schemas.openxmlformats.org/officeDocument/2006/relationships/slide" Target="/ppt/slides/slide5.xml" Id="R512e29b4872349cf" /><Relationship Type="http://schemas.openxmlformats.org/officeDocument/2006/relationships/slide" Target="/ppt/slides/slide6.xml" Id="R076907e184244773" /><Relationship Type="http://schemas.openxmlformats.org/officeDocument/2006/relationships/slide" Target="/ppt/slides/slide7.xml" Id="R97f3a2d4036046ce" /><Relationship Type="http://schemas.openxmlformats.org/officeDocument/2006/relationships/slide" Target="/ppt/slides/slide8.xml" Id="R1e0fe71759414057" /><Relationship Type="http://schemas.openxmlformats.org/officeDocument/2006/relationships/slide" Target="/ppt/slides/slide9.xml" Id="R5308bca6c64e4404" /><Relationship Type="http://schemas.openxmlformats.org/officeDocument/2006/relationships/slide" Target="/ppt/slides/slide10.xml" Id="R11783590330d4f0b" /><Relationship Type="http://schemas.openxmlformats.org/officeDocument/2006/relationships/slide" Target="/ppt/slides/slide11.xml" Id="R4e29431b2692466e" /><Relationship Type="http://schemas.openxmlformats.org/officeDocument/2006/relationships/slide" Target="/ppt/slides/slide12.xml" Id="R78979e2ea0a1492b" /><Relationship Type="http://schemas.openxmlformats.org/officeDocument/2006/relationships/slide" Target="/ppt/slides/slide13.xml" Id="Rdf1e60e0cfcc4f3d" /><Relationship Type="http://schemas.openxmlformats.org/officeDocument/2006/relationships/slide" Target="/ppt/slides/slide14.xml" Id="R0bae079f75944008" /><Relationship Type="http://schemas.openxmlformats.org/officeDocument/2006/relationships/slide" Target="/ppt/slides/slide15.xml" Id="Rf87f3ec4d6df493c" /><Relationship Type="http://schemas.openxmlformats.org/officeDocument/2006/relationships/slide" Target="/ppt/slides/slide16.xml" Id="R16924f8c28224311" /><Relationship Type="http://schemas.openxmlformats.org/officeDocument/2006/relationships/slide" Target="/ppt/slides/slide17.xml" Id="Re5ec463be5c24a87" /><Relationship Type="http://schemas.openxmlformats.org/officeDocument/2006/relationships/slide" Target="/ppt/slides/slide18.xml" Id="Rfdbf1ecc07054558" /><Relationship Type="http://schemas.openxmlformats.org/officeDocument/2006/relationships/slide" Target="/ppt/slides/slide19.xml" Id="R2bb1c03ca23043df" /><Relationship Type="http://schemas.openxmlformats.org/officeDocument/2006/relationships/slide" Target="/ppt/slides/slide20.xml" Id="R03b81c99e79a44c2" /><Relationship Type="http://schemas.openxmlformats.org/officeDocument/2006/relationships/slide" Target="/ppt/slides/slide21.xml" Id="Re49243eb0e3f4e42" /><Relationship Type="http://schemas.openxmlformats.org/officeDocument/2006/relationships/slide" Target="/ppt/slides/slide22.xml" Id="R1e305d68be1b4136" /><Relationship Type="http://schemas.openxmlformats.org/officeDocument/2006/relationships/slide" Target="/ppt/slides/slide23.xml" Id="R49baa1406f4646b4" /><Relationship Type="http://schemas.openxmlformats.org/officeDocument/2006/relationships/slide" Target="/ppt/slides/slide24.xml" Id="R5c78d4d441d041d0" /><Relationship Type="http://schemas.openxmlformats.org/officeDocument/2006/relationships/slide" Target="/ppt/slides/slide25.xml" Id="Ra03e575b31ca4b3d" /><Relationship Type="http://schemas.openxmlformats.org/officeDocument/2006/relationships/slide" Target="/ppt/slides/slide26.xml" Id="Rf032b87e35314152" /><Relationship Type="http://schemas.openxmlformats.org/officeDocument/2006/relationships/slide" Target="/ppt/slides/slide27.xml" Id="R4df1ee1407d646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ea643024bf4e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Business Asset">
      <a:dk1>
        <a:srgbClr val="000000"/>
      </a:dk1>
      <a:lt1>
        <a:srgbClr val="FFFFFF"/>
      </a:lt1>
      <a:dk2>
        <a:srgbClr val="0B1B2A"/>
      </a:dk2>
      <a:lt2>
        <a:srgbClr val="F5F0E8"/>
      </a:lt2>
      <a:accent1>
        <a:srgbClr val="D76532"/>
      </a:accent1>
      <a:accent2>
        <a:srgbClr val="65B8A5"/>
      </a:accent2>
      <a:accent3>
        <a:srgbClr val="E2A93B"/>
      </a:accent3>
      <a:accent4>
        <a:srgbClr val="7189A5"/>
      </a:accent4>
      <a:accent5>
        <a:srgbClr val="142B40"/>
      </a:accent5>
      <a:accent6>
        <a:srgbClr val="E8E1D8"/>
      </a:accent6>
      <a:hlink>
        <a:srgbClr val="D76532"/>
      </a:hlink>
      <a:folHlink>
        <a:srgbClr val="7189A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usiness Asse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bf6c5079ec4ea3" /><Relationship Type="http://schemas.openxmlformats.org/officeDocument/2006/relationships/notesMaster" Target="/ppt/notesMasters/notesMaster1.xml" Id="R9640b098f7e148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11c1d03050435e" /><Relationship Type="http://schemas.openxmlformats.org/officeDocument/2006/relationships/notesMaster" Target="/ppt/notesMasters/notesMaster1.xml" Id="Re81dee95030b4b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81e3e77914458d" /><Relationship Type="http://schemas.openxmlformats.org/officeDocument/2006/relationships/notesMaster" Target="/ppt/notesMasters/notesMaster1.xml" Id="R9fba19094c0545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07e1cdcba14341" /><Relationship Type="http://schemas.openxmlformats.org/officeDocument/2006/relationships/notesMaster" Target="/ppt/notesMasters/notesMaster1.xml" Id="R28b02dfe54b146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c3045d27694a0d" /><Relationship Type="http://schemas.openxmlformats.org/officeDocument/2006/relationships/notesMaster" Target="/ppt/notesMasters/notesMaster1.xml" Id="Ra2e8fb83f03042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e5086c7cea400a" /><Relationship Type="http://schemas.openxmlformats.org/officeDocument/2006/relationships/notesMaster" Target="/ppt/notesMasters/notesMaster1.xml" Id="R841e9c1e908544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a6cb22816904eb1" /><Relationship Type="http://schemas.openxmlformats.org/officeDocument/2006/relationships/notesMaster" Target="/ppt/notesMasters/notesMaster1.xml" Id="Rfc8fd779d0c342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ad41744c3747cc" /><Relationship Type="http://schemas.openxmlformats.org/officeDocument/2006/relationships/notesMaster" Target="/ppt/notesMasters/notesMaster1.xml" Id="R8478ab17081749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3323d7299a45b6" /><Relationship Type="http://schemas.openxmlformats.org/officeDocument/2006/relationships/notesMaster" Target="/ppt/notesMasters/notesMaster1.xml" Id="Radc8fed06c6c45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514c3b83dc4dfe" /><Relationship Type="http://schemas.openxmlformats.org/officeDocument/2006/relationships/notesMaster" Target="/ppt/notesMasters/notesMaster1.xml" Id="R4cded0972af842d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0b8edd75503480d" /><Relationship Type="http://schemas.openxmlformats.org/officeDocument/2006/relationships/notesMaster" Target="/ppt/notesMasters/notesMaster1.xml" Id="Rf79a7806ee414d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cdd6bad53a46f0" /><Relationship Type="http://schemas.openxmlformats.org/officeDocument/2006/relationships/notesMaster" Target="/ppt/notesMasters/notesMaster1.xml" Id="R4cd6cd618b92488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857101514024fb6" /><Relationship Type="http://schemas.openxmlformats.org/officeDocument/2006/relationships/notesMaster" Target="/ppt/notesMasters/notesMaster1.xml" Id="Rebe58515861246d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a57128d399e46bc" /><Relationship Type="http://schemas.openxmlformats.org/officeDocument/2006/relationships/notesMaster" Target="/ppt/notesMasters/notesMaster1.xml" Id="Rc1fc331dbf1a448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489c64d8bb84f88" /><Relationship Type="http://schemas.openxmlformats.org/officeDocument/2006/relationships/notesMaster" Target="/ppt/notesMasters/notesMaster1.xml" Id="R5c76cd3e149d403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9b9bf38218e44e7" /><Relationship Type="http://schemas.openxmlformats.org/officeDocument/2006/relationships/notesMaster" Target="/ppt/notesMasters/notesMaster1.xml" Id="R2484c45c7b8d4d9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512213c06a24d3e" /><Relationship Type="http://schemas.openxmlformats.org/officeDocument/2006/relationships/notesMaster" Target="/ppt/notesMasters/notesMaster1.xml" Id="R0134a0cef76b4f6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8039a0da1ba4206" /><Relationship Type="http://schemas.openxmlformats.org/officeDocument/2006/relationships/notesMaster" Target="/ppt/notesMasters/notesMaster1.xml" Id="R2230cbb9ff5c44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9b61faa490b4891" /><Relationship Type="http://schemas.openxmlformats.org/officeDocument/2006/relationships/notesMaster" Target="/ppt/notesMasters/notesMaster1.xml" Id="R306fefff048b49d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68cc49652c649b9" /><Relationship Type="http://schemas.openxmlformats.org/officeDocument/2006/relationships/notesMaster" Target="/ppt/notesMasters/notesMaster1.xml" Id="R026c38c7b637408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7e92e995def4234" /><Relationship Type="http://schemas.openxmlformats.org/officeDocument/2006/relationships/notesMaster" Target="/ppt/notesMasters/notesMaster1.xml" Id="Rbe5858bc9eda457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5b684b890a2492f" /><Relationship Type="http://schemas.openxmlformats.org/officeDocument/2006/relationships/notesMaster" Target="/ppt/notesMasters/notesMaster1.xml" Id="R25ad254a7b9e4c4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2cbd445dd49409d" /><Relationship Type="http://schemas.openxmlformats.org/officeDocument/2006/relationships/notesMaster" Target="/ppt/notesMasters/notesMaster1.xml" Id="Re028a81a054343a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358b784e9254e31" /><Relationship Type="http://schemas.openxmlformats.org/officeDocument/2006/relationships/notesMaster" Target="/ppt/notesMasters/notesMaster1.xml" Id="R309b09081379412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e66e15f73a54f39" /><Relationship Type="http://schemas.openxmlformats.org/officeDocument/2006/relationships/notesMaster" Target="/ppt/notesMasters/notesMaster1.xml" Id="R6d36863b886844e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2ee1b29df9547b4" /><Relationship Type="http://schemas.openxmlformats.org/officeDocument/2006/relationships/notesMaster" Target="/ppt/notesMasters/notesMaster1.xml" Id="Rfd8598002e7b449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0887eee36b04f3f" /><Relationship Type="http://schemas.openxmlformats.org/officeDocument/2006/relationships/notesMaster" Target="/ppt/notesMasters/notesMaster1.xml" Id="R60f70211667949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 Content Investment Executive Business Case with Quality Content Formulas,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Formula adapted from AI Content Investment Executive Business Case with Quality Content Formulas,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Formulas adapted from AI Content Investment Executive Business Case with Quality Content Formulas,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 Content Investment Executive Business Case with Quality Content Formulas,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Scorecard adapted from AI Content Investment Executive Business Case with Quality Content Formulas,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436485e88544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7010ab29914817" /><Relationship Type="http://schemas.openxmlformats.org/officeDocument/2006/relationships/slideLayout" Target="/ppt/slideLayouts/slideLayout1.xml" Id="Re84521b4780540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4521b4780540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Business Asset">
      <a:dk1>
        <a:srgbClr val="000000"/>
      </a:dk1>
      <a:lt1>
        <a:srgbClr val="FFFFFF"/>
      </a:lt1>
      <a:dk2>
        <a:srgbClr val="0B1B2A"/>
      </a:dk2>
      <a:lt2>
        <a:srgbClr val="F5F0E8"/>
      </a:lt2>
      <a:accent1>
        <a:srgbClr val="D76532"/>
      </a:accent1>
      <a:accent2>
        <a:srgbClr val="65B8A5"/>
      </a:accent2>
      <a:accent3>
        <a:srgbClr val="E2A93B"/>
      </a:accent3>
      <a:accent4>
        <a:srgbClr val="7189A5"/>
      </a:accent4>
      <a:accent5>
        <a:srgbClr val="142B40"/>
      </a:accent5>
      <a:accent6>
        <a:srgbClr val="E8E1D8"/>
      </a:accent6>
      <a:hlink>
        <a:srgbClr val="D76532"/>
      </a:hlink>
      <a:folHlink>
        <a:srgbClr val="7189A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usiness Asse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d1bd5fb5584b6c" /><Relationship Type="http://schemas.openxmlformats.org/officeDocument/2006/relationships/image" Target="/ppt/media/image.png" Id="R6a07472d18f74b61" /><Relationship Type="http://schemas.openxmlformats.org/officeDocument/2006/relationships/notesSlide" Target="/ppt/notesSlides/notesSlide1.xml" Id="R10f3bf606fb441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c391e262444ce6" /><Relationship Type="http://schemas.openxmlformats.org/officeDocument/2006/relationships/notesSlide" Target="/ppt/notesSlides/notesSlide2.xml" Id="R576364d71b7c48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0ff5e2a5f479f" /><Relationship Type="http://schemas.openxmlformats.org/officeDocument/2006/relationships/notesSlide" Target="/ppt/notesSlides/notesSlide3.xml" Id="R19a570258e7b4b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4e04fa08148ff" /><Relationship Type="http://schemas.openxmlformats.org/officeDocument/2006/relationships/notesSlide" Target="/ppt/notesSlides/notesSlide4.xml" Id="R253c24332cec43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6efdc96446458e" /><Relationship Type="http://schemas.openxmlformats.org/officeDocument/2006/relationships/notesSlide" Target="/ppt/notesSlides/notesSlide5.xml" Id="Rc9e51d0e276348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1cd2440e142dd" /><Relationship Type="http://schemas.openxmlformats.org/officeDocument/2006/relationships/notesSlide" Target="/ppt/notesSlides/notesSlide6.xml" Id="R1b4a9e2f2d284a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9da00cf5b468d" /><Relationship Type="http://schemas.openxmlformats.org/officeDocument/2006/relationships/notesSlide" Target="/ppt/notesSlides/notesSlide7.xml" Id="R7e2e25e11b884e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d9c35576242c3" /><Relationship Type="http://schemas.openxmlformats.org/officeDocument/2006/relationships/notesSlide" Target="/ppt/notesSlides/notesSlide8.xml" Id="R8e25fe198ea240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5f43a2240c471a" /><Relationship Type="http://schemas.openxmlformats.org/officeDocument/2006/relationships/notesSlide" Target="/ppt/notesSlides/notesSlide9.xml" Id="Rd43fa354dc5041c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f0f81fc824bb7" /><Relationship Type="http://schemas.openxmlformats.org/officeDocument/2006/relationships/notesSlide" Target="/ppt/notesSlides/notesSlide10.xml" Id="Rae56e7ffd90345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201e406fe4ec2" /><Relationship Type="http://schemas.openxmlformats.org/officeDocument/2006/relationships/notesSlide" Target="/ppt/notesSlides/notesSlide11.xml" Id="R77b973387d004a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51da4a3354fdd" /><Relationship Type="http://schemas.openxmlformats.org/officeDocument/2006/relationships/notesSlide" Target="/ppt/notesSlides/notesSlide12.xml" Id="R08d1d43f9184421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f5b97482840fc" /><Relationship Type="http://schemas.openxmlformats.org/officeDocument/2006/relationships/notesSlide" Target="/ppt/notesSlides/notesSlide13.xml" Id="R9756fa99c5cb461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98f6fb65c04080" /><Relationship Type="http://schemas.openxmlformats.org/officeDocument/2006/relationships/notesSlide" Target="/ppt/notesSlides/notesSlide14.xml" Id="R98c96c266a784de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b15306a3f14282" /><Relationship Type="http://schemas.openxmlformats.org/officeDocument/2006/relationships/notesSlide" Target="/ppt/notesSlides/notesSlide15.xml" Id="R7ed67846d8544bd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4a5a550f24745" /><Relationship Type="http://schemas.openxmlformats.org/officeDocument/2006/relationships/notesSlide" Target="/ppt/notesSlides/notesSlide16.xml" Id="R41fe3ac38ef6464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1d6b4d7374443" /><Relationship Type="http://schemas.openxmlformats.org/officeDocument/2006/relationships/notesSlide" Target="/ppt/notesSlides/notesSlide17.xml" Id="R0872708ab7bd486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78a2df7a34357" /><Relationship Type="http://schemas.openxmlformats.org/officeDocument/2006/relationships/notesSlide" Target="/ppt/notesSlides/notesSlide18.xml" Id="R38f7176f438b455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6c07c9b3946b9" /><Relationship Type="http://schemas.openxmlformats.org/officeDocument/2006/relationships/notesSlide" Target="/ppt/notesSlides/notesSlide19.xml" Id="R2aaab8cc91a14af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c9b2a7a88d42e5" /><Relationship Type="http://schemas.openxmlformats.org/officeDocument/2006/relationships/notesSlide" Target="/ppt/notesSlides/notesSlide20.xml" Id="R8afd058504724b5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30fd5a6e64ea2" /><Relationship Type="http://schemas.openxmlformats.org/officeDocument/2006/relationships/notesSlide" Target="/ppt/notesSlides/notesSlide21.xml" Id="R5b3c6404bea7461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2e5765d9d4b3d" /><Relationship Type="http://schemas.openxmlformats.org/officeDocument/2006/relationships/notesSlide" Target="/ppt/notesSlides/notesSlide22.xml" Id="Re4f65a58ca784de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2032ff45d4a69" /><Relationship Type="http://schemas.openxmlformats.org/officeDocument/2006/relationships/notesSlide" Target="/ppt/notesSlides/notesSlide23.xml" Id="R8ef990e562744ca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3b02e52754450" /><Relationship Type="http://schemas.openxmlformats.org/officeDocument/2006/relationships/notesSlide" Target="/ppt/notesSlides/notesSlide24.xml" Id="R031a9485915b46f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93357f6fb4404" /><Relationship Type="http://schemas.openxmlformats.org/officeDocument/2006/relationships/notesSlide" Target="/ppt/notesSlides/notesSlide25.xml" Id="R336214d10c334a0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183a2688644d0" /><Relationship Type="http://schemas.openxmlformats.org/officeDocument/2006/relationships/notesSlide" Target="/ppt/notesSlides/notesSlide26.xml" Id="R5d04b8c7d4384ce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bca6eae0541be" /><Relationship Type="http://schemas.openxmlformats.org/officeDocument/2006/relationships/notesSlide" Target="/ppt/notesSlides/notesSlide27.xml" Id="Rb341c148eaff4ec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7472d18f74b6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2772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B68BF3-9A2B-4187-9CDD-98008048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THE COMBINED 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97BA2-D050-41D9-A37E-35CAE1FD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284D67-98C5-49D4-A447-58BBC7CB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Content earns investment when its value is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A696F9-6085-4047-A59C-1575392D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A unified strategy connects customer needs, source content, team effort, and business results.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B73AF-5A59-4440-B181-83543ED6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084A59-9CE0-4D30-B854-360417D6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Treat content as a product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30C07-8D5F-4BB4-AB18-787AC6F9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3190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Define the customer problem, owner, lifecycle, and evidence of use.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66A798-319C-412F-BDE9-F4D2C1CF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670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5B8A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5B8A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8F52A4-66AC-45DC-A159-B2A1FD34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76625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Coordinate the 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10ED7A-493B-454D-B16C-E3049B44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00500"/>
            <a:ext cx="3190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Agree on sources, responsibilities, reuse, review, and measures.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AAD1E-5B18-4021-B110-4F90B76C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670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E2A93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E2A9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334E26-50FA-461E-959E-9D66771A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76625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Manage the asset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37A996-76FC-4D72-A90A-9E490484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00500"/>
            <a:ext cx="3190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Estimate cost, contribution, risk, and future reuse before funding work.</a:t>
            </a:r>
          </a:p>
        </p:txBody>
      </p:sp>
    </p:spTree>
    <p:extLst>
      <p:ext uri="{BB962C8B-B14F-4D97-AF65-F5344CB8AC3E}">
        <p14:creationId xmlns:p14="http://schemas.microsoft.com/office/powerpoint/2010/main" val="11335882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EBCC7D-1F76-4744-9089-7B63DA37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CONTENT AS A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7FB9D-5B0A-4D35-99F5-8F162CB2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742B1-9CD5-4553-A75A-966870AE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Content has a customer, a job, and a lifecycle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7B5E74-41FC-4E9E-B679-7DD16A03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89BF8-5530-4263-A4C1-51555DEE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Understand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CD4AE-9CD4-4DFC-983E-645D90C7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2238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CC9D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CC9D3"/>
                </a:solidFill>
                <a:latin typeface="Arial"/>
                <a:ea typeface="Arial"/>
                <a:cs typeface="Arial"/>
              </a:rPr>
              <a:t>Customer task and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95C979-42FF-41EA-9C40-A35AC16A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71775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BE6BB-3BF6-422D-9EDF-DA6654F9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907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8CADAA-CF01-4F8C-956A-5679FE8F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479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EE2352-D35B-4B5A-A475-FEAE72F3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43250"/>
            <a:ext cx="2238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CC9D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CC9D3"/>
                </a:solidFill>
                <a:latin typeface="Arial"/>
                <a:ea typeface="Arial"/>
                <a:cs typeface="Arial"/>
              </a:rPr>
              <a:t>Source, structure, and format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788CBC-E0B6-48B4-8CDC-471B2D38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71775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EE1700-AF0B-42C1-999B-84B2CD49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CF2597-91A0-4901-A3E8-8BB9F9CB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Deliver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D02106-C936-40E7-8A2E-25E36EF5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43250"/>
            <a:ext cx="2238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CC9D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CC9D3"/>
                </a:solidFill>
                <a:latin typeface="Arial"/>
                <a:ea typeface="Arial"/>
                <a:cs typeface="Arial"/>
              </a:rPr>
              <a:t>Channel and access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ABA25B-0615-48DD-BE5C-A233E5D6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71775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522CBA-DAD6-418B-93D2-5802B9C4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1907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08AE3-25E9-411D-BAF7-4AD282DA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448D4B-C949-4FC1-9E49-53C85016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43250"/>
            <a:ext cx="2238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CC9D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CC9D3"/>
                </a:solidFill>
                <a:latin typeface="Arial"/>
                <a:ea typeface="Arial"/>
                <a:cs typeface="Arial"/>
              </a:rPr>
              <a:t>Use, outcome, and upkeep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794C29-35E8-4E9E-8D99-2EF57668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product mindset makes maintenance and retirement part of the plan, not afterthoughts.</a:t>
            </a:r>
          </a:p>
        </p:txBody>
      </p:sp>
    </p:spTree>
    <p:extLst>
      <p:ext uri="{BB962C8B-B14F-4D97-AF65-F5344CB8AC3E}">
        <p14:creationId xmlns:p14="http://schemas.microsoft.com/office/powerpoint/2010/main" val="17545151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8569F4-867A-4921-9608-1D471A20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62F8CE-CE00-4424-A470-B458775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0BCD0-966E-454C-ADD7-8E498839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Customers experience one journey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F0BABA-E787-433C-8BED-83E5D661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Many teams create the content. Customers still expect one coherent answer.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6B9FE-F72B-46E6-841A-D68E88E8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shared decisions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DBDCC9-ECC4-4BBB-94BA-9CBFA281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B1BFE8-46B7-49E2-8890-11DA7798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455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Customer need and intended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DF3D3D-A1BE-497E-9D23-18667C57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C56775-E938-4317-83DB-79B32005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05200"/>
            <a:ext cx="455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Approved source information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07343-E3B3-49F9-9CA0-EA7DD992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89AAC5-B62C-4F1A-B72D-2872CE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455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Ownership and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9EB1BD-FFC7-4BB9-BB5E-B425F453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7C00F8-ADEC-4006-99D8-82B4C4D4D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10100"/>
            <a:ext cx="455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Reuse rules and success measures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E7071-14F5-4F3D-9866-118D3833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38375"/>
            <a:ext cx="4476750" cy="285750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9F8B65-AF90-4687-9D99-7BC87415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61937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When teams agree early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B189B2-C2B1-40BB-A791-FC99E41E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190875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6D0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6D0D8"/>
                </a:solidFill>
                <a:latin typeface="Arial"/>
                <a:ea typeface="Arial"/>
                <a:cs typeface="Arial"/>
              </a:rPr>
              <a:t>Repeated research falls. Conflicts surface sooner. Each channel can adapt the same source without changing the facts.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778A71-DEA9-42FC-B603-7C274A67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05375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677901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E811F0-735D-44CD-BD04-56FE1325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F29954-8E38-4534-970F-8ADD8058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BAD7E3-5422-4CB4-A3DF-2CAB9BCD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Fragmented teams create hidden content debt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CC608F-D4F5-4051-985C-66E9745C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286000" cy="819150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930D7-2163-4439-A047-1552A230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201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A"/>
                </a:solidFill>
                <a:latin typeface="Arial"/>
                <a:ea typeface="Arial"/>
                <a:cs typeface="Arial"/>
              </a:rPr>
              <a:t>Marketing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27768-2C6F-49A5-8380-FC3C8E3C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BFCA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FCAD3"/>
                </a:solidFill>
                <a:latin typeface="Arial"/>
                <a:ea typeface="Arial"/>
                <a:cs typeface="Arial"/>
              </a:rPr>
              <a:t>Different tools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AAB2EA-0BA0-4E9A-8F10-F5B0D001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86000"/>
            <a:ext cx="2286000" cy="819150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584426-C564-40C7-9EBE-F2468084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201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Technical publications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B3C6C3-3E14-4B04-9934-F2F96761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33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BFCA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FCAD3"/>
                </a:solidFill>
                <a:latin typeface="Arial"/>
                <a:ea typeface="Arial"/>
                <a:cs typeface="Arial"/>
              </a:rPr>
              <a:t>Repeated research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707CF7-A57C-48F3-933F-D1ABBC03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2286000" cy="819150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E2A93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316B3-8388-4339-8D33-EE540342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201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A"/>
                </a:solidFill>
                <a:latin typeface="Arial"/>
                <a:ea typeface="Arial"/>
                <a:cs typeface="Arial"/>
              </a:rPr>
              <a:t>Customer education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948080-0FC8-477B-B562-CE9D5EAB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333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BFCA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FCAD3"/>
                </a:solidFill>
                <a:latin typeface="Arial"/>
                <a:ea typeface="Arial"/>
                <a:cs typeface="Arial"/>
              </a:rPr>
              <a:t>Conflicting versions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591478-9497-405D-AB5B-994CFEE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86000"/>
            <a:ext cx="2286000" cy="819150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7189A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090C4C-AFC0-44E5-8A2A-5E37745EF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201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A"/>
                </a:solidFill>
                <a:latin typeface="Arial"/>
                <a:ea typeface="Arial"/>
                <a:cs typeface="Arial"/>
              </a:rPr>
              <a:t>Sales and support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C498DA-F907-4124-9E62-695746B1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33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BFCA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FCAD3"/>
                </a:solidFill>
                <a:latin typeface="Arial"/>
                <a:ea typeface="Arial"/>
                <a:cs typeface="Arial"/>
              </a:rPr>
              <a:t>Duplicate production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2AFD4C-CA65-47E1-A9E6-57C12046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05375"/>
            <a:ext cx="895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874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Each team can finish its assignment while the customer journey remains inconsistent.</a:t>
            </a:r>
          </a:p>
        </p:txBody>
      </p:sp>
    </p:spTree>
    <p:extLst>
      <p:ext uri="{BB962C8B-B14F-4D97-AF65-F5344CB8AC3E}">
        <p14:creationId xmlns:p14="http://schemas.microsoft.com/office/powerpoint/2010/main" val="15500726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A25C42-8DC2-40EA-B93B-6E8E1987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WORKING TOGETHER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51AB35-AC66-480B-AE1F-397DBF0E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9CC3B7-0049-4C25-8C86-E06C7428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Four decisions hold the work together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CC96E-5097-4573-9096-ACC99AFD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C974D1-F6DF-461B-8B6C-17075D7C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FB486E-620E-48A7-963D-7FBC2DCA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ECDA5-5AFF-42DC-AA56-AD105C74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The customer need and the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F7ED3-BD62-4E93-9826-0A8B2B8B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95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514C7-6D64-4A57-92CC-2864E04E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76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C3A96D-49EA-4DF4-BD30-4C440F04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1C627-C22C-426B-AC1F-6350CF56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86125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The approved explanation, claim, or procedure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D19F8-55F9-4149-A7FB-C8708D5D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95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A9B41-AEC6-4F23-A7D0-61F2973D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76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Ownership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69640A-EF04-4F68-A4ED-34F06FDF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099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93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0435C7-E5E3-4D5C-828F-1C0EEC90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86125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Who creates, reviews, and maintains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70DE2-FD96-4AAB-AE17-0AA6A616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E9E1D-E0BE-49B0-8870-ED9D1591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76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FB83BF-42C8-438E-A8B5-1D66F5E5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99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9A5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370E20-82DE-4E07-9CE5-ECA907E0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86125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How each channel adapts the source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A8929C-37AA-4E84-90B0-65A94F9A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Teams can keep the formats that fit their work while coordinating the choices that affect everyone.</a:t>
            </a:r>
          </a:p>
        </p:txBody>
      </p:sp>
    </p:spTree>
    <p:extLst>
      <p:ext uri="{BB962C8B-B14F-4D97-AF65-F5344CB8AC3E}">
        <p14:creationId xmlns:p14="http://schemas.microsoft.com/office/powerpoint/2010/main" val="1123432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1F3418-D8B3-4A8D-A98B-5AE60864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FRAMEWORK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FB345-3873-4E73-A939-4FF774C5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F41606-7678-49E9-B202-B2C960B1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Seven steps for a unified content strategy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362F7-3613-42B0-9487-2BC74EFA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10F150-DC06-409F-B0F7-4AEB1E82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298AE-F068-4F01-8289-0DFA7135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764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Analyze the business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56B33-F035-4C55-88B6-53AF7994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5525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42B40"/>
          </a:solidFill>
          <a:ln xmlns:a="http://schemas.openxmlformats.org/drawingml/2006/main" w="9525">
            <a:solidFill>
              <a:srgbClr val="47617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9398F-664D-44F6-AB0C-73CA7EA6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552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DB7865-ED39-4991-ABC7-5A57C55E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574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Inventory content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B6B4F9-3623-4140-9631-2EF42861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42B40"/>
          </a:solidFill>
          <a:ln xmlns:a="http://schemas.openxmlformats.org/drawingml/2006/main" w="9525">
            <a:solidFill>
              <a:srgbClr val="47617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231E6C-2E83-4B56-B242-3AD44EB2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208F40-D553-418A-A034-6926922E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Research audiences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8DEBB8-1D68-48A6-848A-65B9A47A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42B40"/>
          </a:solidFill>
          <a:ln xmlns:a="http://schemas.openxmlformats.org/drawingml/2006/main" w="9525">
            <a:solidFill>
              <a:srgbClr val="47617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8D28C0-C31A-4BE7-A23D-1112BD1D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294955-A8CB-4FE5-96D8-73F1F6DD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194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 quality and reuse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01F035-DA47-44C3-83FF-2BA354A6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42B40"/>
          </a:solidFill>
          <a:ln xmlns:a="http://schemas.openxmlformats.org/drawingml/2006/main" w="9525">
            <a:solidFill>
              <a:srgbClr val="47617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8219A0-554F-4687-B96A-6863EB59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39557E-13E0-4261-AF80-D343A4D5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005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Measure use and effort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7379A5-F0FD-4F98-BF39-7A8E0ED8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798A12-767B-408F-BACC-BEE98B08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5FC385-91E2-4306-B0E8-1A9E63C0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815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 the roadmap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41A8F9-D647-4EF8-B065-41E71DAB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97FAA6-F277-42CC-9D79-BEEA1392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255B70-92E1-4A54-AA56-612E86FF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625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Publish, track, improve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AC99FE-FAAA-44DA-9FA9-6D6F6380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812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Begin with the business and customer problem. Choose tools after the team understands the work.</a:t>
            </a:r>
          </a:p>
        </p:txBody>
      </p:sp>
    </p:spTree>
    <p:extLst>
      <p:ext uri="{BB962C8B-B14F-4D97-AF65-F5344CB8AC3E}">
        <p14:creationId xmlns:p14="http://schemas.microsoft.com/office/powerpoint/2010/main" val="17724212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0ACC75-4545-43F0-91B2-9E8B1695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STEP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21624-3EC2-4B14-BD76-E02FDED6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E5A6C2-940A-47F9-978F-E8D3485D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Business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56EE98-CAB4-4211-AD35-A0FE461C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Content priorities should reflect how the organization creates value and where customers struggle.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C52B6-6248-4CC3-8FA1-0A97A6D1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Internal 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971EE7-E53A-470B-942A-FE0DBF74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C29D0-8ED4-44D0-BDF3-F29F72EB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03F0BD-06D9-48CC-B677-13DE7C42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Products and services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7CF62E-5156-468E-8FAC-51E11C90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119FB-B2C2-47E9-86B3-60BA220F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Revenue and cost pressures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29082B-FEBC-4A16-A9E3-884BB270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E5E804-E1D4-4716-BC34-D1F81851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Strategic priorities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0D746F-A8F5-4D67-B99B-98F63109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78218C-1B5A-47D7-BD11-7FAC19FA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Operating constraints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452BA9-3CA5-41B4-809A-9B86A661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External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29D3B6-7174-4676-AA23-BEC60D61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F93B6-BB13-44C0-93C1-70F04084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5F1CAC-2EBF-4E4E-97DE-5C046A60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Customer expectations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5295C5-F235-4253-A8DB-DA885E72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A78D19-A568-44CC-8336-3C1E762E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Competitive alternatives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76A283-DC8C-4F49-BA6F-426594B3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7B39F2-B9D4-455C-9587-061EA581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Market and regulatory shifts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A1ACB3-2E01-442D-8ACA-D8B1CEBE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590A7C-25CD-4183-908A-19774320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Channel behavior</a:t>
            </a:r>
          </a:p>
        </p:txBody>
      </p:sp>
    </p:spTree>
    <p:extLst>
      <p:ext uri="{BB962C8B-B14F-4D97-AF65-F5344CB8AC3E}">
        <p14:creationId xmlns:p14="http://schemas.microsoft.com/office/powerpoint/2010/main" val="5885121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C59FC7-3A7A-427B-8BA1-67F68B55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STEP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F14F9-3DE6-4AD2-A75C-065079FF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E5E15-694D-43FC-A5E0-5CCF42B8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A decision-ready content 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2282A4-DA65-40F4-8C29-E9556B03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Collect enough detail to reveal patterns, ownership, and evidence of use.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96086-4E6C-44FA-A809-A2EAECFF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435FC0-7116-4FC9-9A44-44AE67E7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D4A3C-FB13-4DA5-ADCE-BB207337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6D0BE-0D13-43F3-8440-D2D44502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Location and stable identifier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15B6FC-F664-4A8A-8F16-233E4949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F6EE2B-3179-4FD6-BE27-62C72CDB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Owner, audience, and purpose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C7C4C3-B0F1-4BCC-8314-442FE05C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8FEFFA-E1DF-4637-AB7C-67CE171C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Format, channel, and lifecycle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F78561-0EE7-4F8F-8296-8EE89715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29FA8C-3F83-4F20-8254-ECC4123C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Performance data when available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FAFFE1-B697-4B93-A4B4-088D5814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Use it to find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CB41C-668D-4F04-993E-410FFE1D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85075-B42C-49CC-B91F-F73AE608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F10A8F-83F9-41D7-B581-29542EE1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Duplication and contradiction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7B5760-7447-4B51-89E6-3B1B90C2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B88315-2E23-4F7B-A02E-C7DE30D9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Gaps in the customer journey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2E679A-B0AF-41AC-B5BD-C02764D4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507AB-4C57-4DB5-8F7C-9EA644E7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Orphaned or outdated content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6C94D8-4464-4F41-B1BF-FCA27033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C3D742-4362-4F84-9AB5-674256A9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High-value reuse candidates</a:t>
            </a:r>
          </a:p>
        </p:txBody>
      </p:sp>
    </p:spTree>
    <p:extLst>
      <p:ext uri="{BB962C8B-B14F-4D97-AF65-F5344CB8AC3E}">
        <p14:creationId xmlns:p14="http://schemas.microsoft.com/office/powerpoint/2010/main" val="1295197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6EA067-E152-4AE1-8341-6EBCA107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STEP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D2C079-047F-4297-A80A-3753D61D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B4EE56-9A61-42EA-AAD1-B06894C7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Audience needs and journeys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95EEBE-37F7-468E-AE0F-E8C3720F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A persona matters when it changes a content decision.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C358DF-E60E-4213-BD34-91050890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Understand the user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DC5D0-2EE3-4FE5-8175-57A575472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CD883C-37C8-456F-B8C0-793DD359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245CFC-AB82-4773-9CB6-B9342C6C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Role and responsibility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883134-8680-488B-909C-367FDED5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45981-C258-4784-9FC1-D5879499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Task or 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D5E51-CFB7-4929-A22F-D7B7DEF4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490D2-C06E-4DEF-9486-5F720F58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Questions and barriers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DAE75D-D014-4B76-85E8-4ACB2C49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B284FF-EB12-4736-AC2E-E1F00874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Preferred access point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DB5446-EE42-48A2-880A-F415C743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Connect to the journey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B08E07-673D-43BB-B3B5-4903625B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F41202-EC42-47B2-967F-9DFA8232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CF5E87-204C-45CD-98D7-50D1F12C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Discover and evaluate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312C18-C3CA-4E51-AE7C-1786A804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7F8B36-44F4-4BF3-BA1D-FE42E326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Purchase and onboard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9B13BB-3001-4545-B187-A2B1AD68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9FEB83-C87A-4DCA-87E8-66C9C529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Use and troubleshoot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972B30-F1C9-47AB-AD8F-29F81E59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97F1B9-C6E9-4F7E-8B7D-A4CF63A7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Adopt and advocate</a:t>
            </a:r>
          </a:p>
        </p:txBody>
      </p:sp>
    </p:spTree>
    <p:extLst>
      <p:ext uri="{BB962C8B-B14F-4D97-AF65-F5344CB8AC3E}">
        <p14:creationId xmlns:p14="http://schemas.microsoft.com/office/powerpoint/2010/main" val="10042890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FE81F1-3343-4E76-989D-2C8C8E74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STEP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56CA2-0D67-4523-962F-B0E7E33E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EA876F-777C-453A-99B1-92FECA49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Content quality and reuse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A3280-6237-4AA0-9497-6EA19D2D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A polished asset can still be inaccurate, difficult to find, or expensive to maintain.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12D4F-351C-4486-BFC9-8EF1E7B7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Quality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D6A491-5CE3-4EF8-9A3B-461C46B8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399C0D-9DE7-4DB3-BDB2-EF7FDDB8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6979CE-1AFD-4624-A60F-08C1DD85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Accuracy and currency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73B21-B5D6-4A10-B8DB-3CE8F0EC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45C4D2-39F7-4DCA-AE22-DE50B0C5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Clarity and organization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2F03DF-4E2E-442B-A041-553AD19B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0BC11-DAC7-47F3-A926-89C0D667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Findability and metadata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52720-791F-4E67-9147-F0B1FED7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0D02C2-A4B7-4708-9E45-0F49330A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Accessibility and usability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4B67F-11B1-4DBE-B65F-FE9A0702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Reuse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4058D2-BEA5-4D5A-91E6-CF694FB9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05AB89-ACF7-4287-B3F4-6BF6113E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CC007E-E06D-4843-992E-70778B73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Source ownership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AE5257-62EF-45B6-87FB-00FB9EFB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0FFE72-2555-464D-B40D-97BD1858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Content granularity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F4D9A0-5376-4B17-900C-60406C61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9D1C75-A823-4473-B5FE-C046249D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Format dependence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8D9573-A10B-4B6C-B99B-90B9EE0F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D508C8-7D71-4B21-8FDE-531CFD9E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Rights and lifecycle constraints</a:t>
            </a:r>
          </a:p>
        </p:txBody>
      </p:sp>
    </p:spTree>
    <p:extLst>
      <p:ext uri="{BB962C8B-B14F-4D97-AF65-F5344CB8AC3E}">
        <p14:creationId xmlns:p14="http://schemas.microsoft.com/office/powerpoint/2010/main" val="4670239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771D2-8987-4397-B882-CACF3DF2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STEP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39F7B1-71B1-4C90-AF8D-0AB3A2D1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46F27B-205B-432E-B227-55E12CF2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Customer use and team effort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DD5C2-FAA9-4601-BB3D-AED494A3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Pair customer evidence with production data to see what helps and what slows the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F58E9-CC85-4283-A114-02A87C37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Customer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F45B5-6B6E-4A70-8C71-624B4B23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7ED0BE-1ACA-4EF8-AAFA-EF7159F7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75AC0-6B9E-4308-9868-3A7B69D8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Search, views, and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A2D2A4-9F06-40E8-9186-26B7D663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AB688F-E107-4574-8EA8-41FBD3D1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Downloads and engagement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20F0F-3CDE-4C16-9299-C1373ED5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2D5B6-31B7-4CC6-9F62-9AD69178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Support deflection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78EB92-10A6-4097-9A68-B68FBDCE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AB0F33-6C1F-4418-8981-8DDD92A7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Task success and feedback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771ECD-010E-4085-9393-0DE78A5D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Team effort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25E9C5-D25C-4170-8545-20F40DDA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E16B10-3A12-4A40-A165-078607F7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1B087-C111-4232-9AD7-9D779372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Cycle time and rework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E09DB-67EE-4115-898B-C51DAC55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112404-FDCF-4A13-B033-3B5B2A9B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Review effort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25DBBB-F629-4209-A094-7B87B7BE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615C4D-DEBC-4F9F-BFFD-27F9FC71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Duplicate production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4687F8-AB76-4E88-8295-7D99DBE5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9BD718-078F-4F2A-9518-1662BF62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Reuse across teams and channels</a:t>
            </a:r>
          </a:p>
        </p:txBody>
      </p:sp>
    </p:spTree>
    <p:extLst>
      <p:ext uri="{BB962C8B-B14F-4D97-AF65-F5344CB8AC3E}">
        <p14:creationId xmlns:p14="http://schemas.microsoft.com/office/powerpoint/2010/main" val="2104689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C68899-3209-4BB1-A443-F4C60FF5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STEPS 6 AND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CCF6BA-A09B-4499-A054-B8F0F3CB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0BF34-846D-462E-B05A-25E3247E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Roadmap, launch, and follow-up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E1B6E-1C76-4D7B-B3F1-84DFD928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Roadmap decisions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B6FDE-1B77-4818-9D76-E47C529E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620B30-4D57-43C9-83F7-165FA7C1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706609-B405-43C5-ABB1-7F03C6A2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Topic and customer purpose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983ED4-E081-4035-A6AB-DBDCFDF1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8AAB21-35D9-4A5B-8182-71B21F8F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Journey stage and 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098D33-7490-4706-B1C7-8B3EE66E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B6862-2C59-4854-99A2-AE9AC8BB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Channel and 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26A2C-0C74-43BD-A21F-EEB70062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CE95E2-703C-43AC-A93E-33EB6E64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Risk, effort, and sequence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654AA-42E2-417D-865C-642D04BB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Launch and learning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C99C11-2E11-4C8A-B04E-BC71695E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8296DF-CE65-46B2-895D-578CAB13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863E9D-2192-4BEE-94C0-150D19B7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Confirm ownership and version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D6A67-0DCF-4F74-8770-6F44A0E3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78161C-D462-476B-8226-4CE9FE2E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Validate links and metadata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2BF9A-76F7-4731-AEDC-A4E0B681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7CD245-A871-472A-9EAF-0181D08D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Connect analytics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388BF0-CFA3-4150-853B-5779B261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2A4365-0A32-4F62-9797-19B51D02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Revise, retire, or reuse based on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BF3AEC-7DA4-4F76-B956-80CD9FA1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The team starts learning when customers can use the content.</a:t>
            </a:r>
          </a:p>
        </p:txBody>
      </p:sp>
    </p:spTree>
    <p:extLst>
      <p:ext uri="{BB962C8B-B14F-4D97-AF65-F5344CB8AC3E}">
        <p14:creationId xmlns:p14="http://schemas.microsoft.com/office/powerpoint/2010/main" val="11159602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9A63B9-4E65-423D-835F-A954C283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CASE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6C5EAA-4123-4100-95F6-00BDDF21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F62F1D-CAD0-4DB6-9953-3290CBE3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product launch tested the approach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142F9-776E-46F6-9508-2CC6E2EE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SETTING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5E224-BD85-4771-9F32-71A4BEE8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6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complex launch with technical publications, training, rich media, marketing, service, and field teams working independently.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205673-C464-4739-A985-333FBC41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PILOT 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F2B65B-4FE2-41F0-B7A4-D7452FA8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33625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6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Could one audit reveal overlap, assign work by expertise, and create a process that later launches could reuse?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EE72F0-861D-4399-BBC8-3952609B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05B3C9-B50A-4BA8-A0D0-7E7C8C9F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pilot focused on decisions and responsibilities rather than forcing every team into one tool.</a:t>
            </a:r>
          </a:p>
        </p:txBody>
      </p:sp>
    </p:spTree>
    <p:extLst>
      <p:ext uri="{BB962C8B-B14F-4D97-AF65-F5344CB8AC3E}">
        <p14:creationId xmlns:p14="http://schemas.microsoft.com/office/powerpoint/2010/main" val="54733206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40F115-002B-4D2E-8EF4-4FD17CE3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805780-9A9F-43E7-B3CD-2A8FFF53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89DFC-CE34-44C1-B8FA-07412FA8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audit exposed a 30% reuse opportunity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16BFC8-2E24-4C45-966F-388CBAE1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762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63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406345-3124-4C4D-A316-78367541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of reviewed content overlapped across teams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6DCCBA-B0FB-491C-9ABE-C5177DF0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43125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comparison covered source material, finished content, and planned deliverables across functions.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7AEF45-E918-4BF9-A308-24B6483C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38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DD362-7BDF-4659-A9A0-D8BC73B4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43250"/>
            <a:ext cx="598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Teams found material they could reuse immediately.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A7190-F04F-412D-B929-64BD59CB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528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C7481E-90EB-41A8-A205-B6207148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57600"/>
            <a:ext cx="598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Missing content surfaced earlier in the lifecycle.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2C95E1-9085-4479-853E-9CB9C537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67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4BAF76-1869-488D-97F9-B2B71170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71950"/>
            <a:ext cx="598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The audit gave teams a practical way to divide the work.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98E261-4DC4-492D-87A6-09B051AD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7815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A66B2-F29E-4C1C-90F1-FA82CD38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686300"/>
            <a:ext cx="598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The method could be repeated on later launches.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7332A0-DA1B-4A0D-95AE-5EA7292C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Source: supplied unified content strategy case study</a:t>
            </a:r>
          </a:p>
        </p:txBody>
      </p:sp>
    </p:spTree>
    <p:extLst>
      <p:ext uri="{BB962C8B-B14F-4D97-AF65-F5344CB8AC3E}">
        <p14:creationId xmlns:p14="http://schemas.microsoft.com/office/powerpoint/2010/main" val="156603839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215515-C50B-4F74-A9FC-043C75C8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OPERATING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FE2160-1AC5-4F36-A6D4-FF56973A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D0D04-1422-406A-93D3-3F6F9514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stakeholder map clarified involvement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A4E223-5023-49BE-A5D9-B0B66055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Business direction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52911-2E27-47A3-8365-5C3BCC92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D6A0FD-DCDE-4E82-B4B5-8ACB7533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3336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Product management</a:t>
            </a:r>
          </a:p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Product marketing</a:t>
            </a:r>
          </a:p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Subject experts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870BAA-404B-4B67-9DC4-FB89DC23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955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Content creation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983A6-769C-4B87-BEE8-3E9191A2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7813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182B73-0029-4176-9E5D-30F7454D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48000"/>
            <a:ext cx="23336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Technical publications</a:t>
            </a:r>
          </a:p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Customer education</a:t>
            </a:r>
          </a:p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Instructional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DCDBB-4F86-4E97-8946-A65BC4B4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Experience delivery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90E80-CCC0-401A-B16A-A31CAD16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813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93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0E069-40F7-4EC4-B687-70AE6B71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48000"/>
            <a:ext cx="23336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Customer support</a:t>
            </a:r>
          </a:p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Field service</a:t>
            </a:r>
          </a:p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Sales enablement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03059D-A41D-4B15-9E73-424EAAF9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Platform and assets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98260E-DC99-4C2D-873E-E3831A9D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813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9A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95BE36-31B6-41BC-8AFC-F8E0C796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048000"/>
            <a:ext cx="23336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IT and CMS</a:t>
            </a:r>
          </a:p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CAD and mechanical</a:t>
            </a:r>
          </a:p>
          <a:p xmlns:a="http://schemas.openxmlformats.org/drawingml/2006/main">
            <a:pPr algn="l"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Rich media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A0050B-BD95-4472-BD36-E57CF111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09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Weekly meetings exposed dependencies. Sponsors settled ownership and platform decisions when the teams reached an impasse.</a:t>
            </a:r>
          </a:p>
        </p:txBody>
      </p:sp>
    </p:spTree>
    <p:extLst>
      <p:ext uri="{BB962C8B-B14F-4D97-AF65-F5344CB8AC3E}">
        <p14:creationId xmlns:p14="http://schemas.microsoft.com/office/powerpoint/2010/main" val="101806480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697C7C-80B9-41D4-85CB-8EA1870E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REUSE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D97C97-905A-4870-B4AF-D5F34206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841E79-A66F-4F07-BFD3-6F33A780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One approved topic can support many formats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F1C71-CF6A-457F-9879-671728F5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2000250" cy="876300"/>
          </a:xfrm>
          <a:prstGeom xmlns:a="http://schemas.openxmlformats.org/drawingml/2006/main" prst="roundRect">
            <a:avLst>
              <a:gd name="adj" fmla="val 16304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155A10-F701-4352-9043-6879E4DA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161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Approved source topic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AFB9D-5769-4916-826D-2498CE38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52625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1D5A7-0978-4B0C-825A-B421869A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028825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User manual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371FB4-545C-47AA-A73B-235C6822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432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EDC148-28CD-46E2-BB17-23280D02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8E634-E06F-43CB-8725-F12BA9F4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28825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Tutorial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A7ACD-AA4D-4AC7-8780-92115AFD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2575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2A79A-3AE9-47B2-A795-6D32B369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52625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555E50-4815-44AC-B9CE-63D88340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28825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Pre-sales training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FB7A22-50C4-4F17-BBED-D1D5A37E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432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92A6DB-ACD5-4E73-9685-06FF3ED6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00500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B85BB2-7032-4C17-A2F4-6BA6BC38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76700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eLearning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29273B-C4A1-4DF1-B19F-19E2D8AA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2575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9BF46B-448B-467E-8DFF-D65CD8CB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00500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B09599-28A2-41C9-9412-EA69FB2C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76700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Field training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9CFD83-8246-48FB-9F9B-A03BFCC1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432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90A0DA-9490-4749-AAA6-AF3685E1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00500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B57994-04CD-430D-B856-7A4C6925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76700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Interactive manual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9D3DB1-E05A-4C9C-8EF5-05D5C3B2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2575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37842D-442E-4FD9-B60C-F3291C4B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Reuse depends on modular source content, clear ownership, and reliable updates.</a:t>
            </a:r>
          </a:p>
        </p:txBody>
      </p:sp>
    </p:spTree>
    <p:extLst>
      <p:ext uri="{BB962C8B-B14F-4D97-AF65-F5344CB8AC3E}">
        <p14:creationId xmlns:p14="http://schemas.microsoft.com/office/powerpoint/2010/main" val="167269080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2BADE-5A3D-479D-BA67-96B9A8F4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THE ASSET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A9703-DCDC-4F6E-9F58-E11E2938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735E0-DDEA-4773-8476-BE2453A5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asset extends beyond the finished page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53F55-4B7F-4F89-889A-8F15E4FD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E1B455-FA38-4FCE-8FF7-9A1CE3F6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962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Published content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F0FB2C-7E58-497C-B32F-A30C5330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621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4CE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4CED7"/>
                </a:solidFill>
                <a:latin typeface="Arial"/>
                <a:ea typeface="Arial"/>
                <a:cs typeface="Arial"/>
              </a:rPr>
              <a:t>Campaigns, documentation, training, service content, and channel adaptations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7C0C56-9E67-43AC-B15B-65E2B02C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B8A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5B8A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0BE882-F9A6-417E-89C3-4860DB45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527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Reusable knowledge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271441-4EBF-49BB-96FF-AA2548AE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52775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4CE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4CED7"/>
                </a:solidFill>
                <a:latin typeface="Arial"/>
                <a:ea typeface="Arial"/>
                <a:cs typeface="Arial"/>
              </a:rPr>
              <a:t>Audience definitions, messaging, approved claims, proof, and creative guidance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6D8BC-602E-489D-94D9-96F92D7D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A93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2A93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248C63-3FAC-46AC-B60C-1919533B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43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Validated learning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2255C3-D94D-460D-8041-29061B3F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434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4CE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4CED7"/>
                </a:solidFill>
                <a:latin typeface="Arial"/>
                <a:ea typeface="Arial"/>
                <a:cs typeface="Arial"/>
              </a:rPr>
              <a:t>Performance evidence that improves the next decision and prevents repeated research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05ED3C-3C8E-40AF-9023-90C5B7E5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97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These resources retain value when the organization can find them, trust them, adapt them, and maintain them.</a:t>
            </a:r>
          </a:p>
        </p:txBody>
      </p:sp>
    </p:spTree>
    <p:extLst>
      <p:ext uri="{BB962C8B-B14F-4D97-AF65-F5344CB8AC3E}">
        <p14:creationId xmlns:p14="http://schemas.microsoft.com/office/powerpoint/2010/main" val="190675311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1DE1A9-7683-4ADF-AA93-7B885687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CONTENT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2B331-004D-4CE9-AE59-AA11DEC6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4B9FB4-0BBC-4BAC-9B46-8B5F986E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content value equation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3C0C2-23B1-4B06-8BD1-24CA682E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The calculation combines economic benefit with the full cost of ownership.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0436D1-274E-4AF5-A383-DE56AC68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82040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957F62-0355-4026-9B67-D609423C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Content value = reuse + efficiency + speed + quality + performance - creation, governance, and maintenance cost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49242D-63A1-4321-A16A-772B452D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Reuse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9DA0F1-5E1F-449D-A607-7D9D2DFD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857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Work avoided through valid adaptation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628DAD-7EAE-4759-B0F3-D76DC9DE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9052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5B8A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5B8A5"/>
                </a:solidFill>
                <a:latin typeface="Arial"/>
                <a:ea typeface="Arial"/>
                <a:cs typeface="Arial"/>
              </a:rPr>
              <a:t>Efficiency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4E632F-C9C7-49C1-8BF1-90B91CB0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305300"/>
            <a:ext cx="1857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Labor hours saved across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B19B0-92D6-49C5-A0F9-1C4EC0E1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9052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2A9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2A93B"/>
                </a:solidFill>
                <a:latin typeface="Arial"/>
                <a:ea typeface="Arial"/>
                <a:cs typeface="Arial"/>
              </a:rPr>
              <a:t>Speed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D2D6CB-AFA3-4F83-B219-C5AEA5F2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05300"/>
            <a:ext cx="1857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Business contribution from an earlier launch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6BE935-C8E5-473F-8623-C1FA81D2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9052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189A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89A5"/>
                </a:solidFill>
                <a:latin typeface="Arial"/>
                <a:ea typeface="Arial"/>
                <a:cs typeface="Arial"/>
              </a:rPr>
              <a:t>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AEDD42-C761-4AD4-A4CD-92563C75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4305300"/>
            <a:ext cx="1857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Lower rework, review, and error cost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E38D15-879B-4D8E-956E-572D7DE1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052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Performance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E7B3AC-17E4-4AC9-89F5-4CED4B27A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305300"/>
            <a:ext cx="1857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Incremental outcomes with an economic value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A4F78B-A65E-4DC3-8448-58877F3D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Count each benefit once. Document the baseline, volume, rate, and attribution assumption.</a:t>
            </a:r>
          </a:p>
        </p:txBody>
      </p:sp>
    </p:spTree>
    <p:extLst>
      <p:ext uri="{BB962C8B-B14F-4D97-AF65-F5344CB8AC3E}">
        <p14:creationId xmlns:p14="http://schemas.microsoft.com/office/powerpoint/2010/main" val="68106379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5F2020-CE58-4AC6-9E43-9A882467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CONTENT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3B5DA8-CD0C-477C-AE80-C83828F2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948811-9965-449C-B34D-F6E3CD77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Five calculations support the asset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17EDB9-0C33-4E6B-B1B5-FE220B5F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Use ranges when attribution remains uncertain.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85800" y="2190750"/>
          <a:ext xmlns:a="http://schemas.openxmlformats.org/drawingml/2006/main" cx="108204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4714875"/>
                <a:gridCol w="4343400"/>
              </a:tblGrid>
              <a:tr h="57943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Value source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Working calculation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088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Reuse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(new creation cost - adaptation cost) x valid reuses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Reuse log, derivatives, roadmap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088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Efficiency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hours saved x volume x loaded hourly cost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Time study, workflow records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088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Speed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contribution attributable to launching earlier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Launch date, baseline, business result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088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Quality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rework + review + error savings + attributable gain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Audit, incidents, review and performance data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088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Performance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incremental outcomes x economic value per outcome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Control or baseline, CRM and campaign data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229A3D-773C-4D49-B38D-16A639FF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Avoid monetizing days saved or quality points without a supported economic consequence.</a:t>
            </a:r>
          </a:p>
        </p:txBody>
      </p:sp>
    </p:spTree>
    <p:extLst>
      <p:ext uri="{BB962C8B-B14F-4D97-AF65-F5344CB8AC3E}">
        <p14:creationId xmlns:p14="http://schemas.microsoft.com/office/powerpoint/2010/main" val="150171289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654354-C2E0-46FC-A684-C3CF062B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QUALITY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17E489-8D63-47C1-B916-52FE1FA2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CA9968-8581-4206-B445-AB1CAD8A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Quality evidence and dollar value answer different questions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39F88A-7447-4023-A7C6-58B3D498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Quality score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DEE611-2022-4087-A34F-D2CB163F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Proves whether the content improved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0E9A1-D273-4D8E-9DE4-F7AE0C0F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6D0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6D0D8"/>
                </a:solidFill>
                <a:latin typeface="Arial"/>
                <a:ea typeface="Arial"/>
                <a:cs typeface="Arial"/>
              </a:rPr>
              <a:t>Weighted score = sum of each quality dimension score x its weight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B2E809-9A38-4058-B638-BC37EF91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65B8A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5B8A5"/>
                </a:solidFill>
                <a:latin typeface="Arial"/>
                <a:ea typeface="Arial"/>
                <a:cs typeface="Arial"/>
              </a:rPr>
              <a:t>Quality value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240685-ABAF-4E98-9DE3-2C60D396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28875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Shows the economic consequence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9C48F-CEDD-474E-AC14-8B1CAA68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0375"/>
            <a:ext cx="4476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6D0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6D0D8"/>
                </a:solidFill>
                <a:latin typeface="Arial"/>
                <a:ea typeface="Arial"/>
                <a:cs typeface="Arial"/>
              </a:rPr>
              <a:t>Rework savings + review savings + error or risk savings + attributable performance gain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C0D0DF-FA03-4DED-BC33-F63D11F1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7ED411-9F2E-4F63-9FC7-51D7DD4E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 not assign dollars directly to a quality score. Prove improvement first, then value the resulting savings or performance.</a:t>
            </a:r>
          </a:p>
        </p:txBody>
      </p:sp>
    </p:spTree>
    <p:extLst>
      <p:ext uri="{BB962C8B-B14F-4D97-AF65-F5344CB8AC3E}">
        <p14:creationId xmlns:p14="http://schemas.microsoft.com/office/powerpoint/2010/main" val="95025704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5C408-DEBB-4210-BC3F-83C4F561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EXECUTIVE SCORECARD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D36FE4-2361-4EF0-89AB-D6162CC3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C3982B-C40C-474F-A1BE-4C30313B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scorecard connects asset quality to economics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762125"/>
          <a:ext xmlns:a="http://schemas.openxmlformats.org/drawingml/2006/main" cx="108204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857750"/>
                <a:gridCol w="2533650"/>
              </a:tblGrid>
              <a:tr h="5578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Executive question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Desired direction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quality improve?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Quality score and first-pass acceptance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Improve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the workflow get faster?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Time to approved asset or campaign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Decrease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waste fall?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Review and rework hours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Decrease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reuse increase?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Content and knowledge reuse rate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Increase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economics improve?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Cost per approved high-quality asset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Decrease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the investment pay off?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ROI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Positive and improving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95C43-3AFC-413D-B10D-E8050694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For AI-enabled workflows, include models, retrieval, evaluation, governance, human review, and maintenance in total investment.</a:t>
            </a:r>
          </a:p>
        </p:txBody>
      </p:sp>
    </p:spTree>
    <p:extLst>
      <p:ext uri="{BB962C8B-B14F-4D97-AF65-F5344CB8AC3E}">
        <p14:creationId xmlns:p14="http://schemas.microsoft.com/office/powerpoint/2010/main" val="107821958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A2EF4-F77C-49CE-9632-E5A01005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ASSET MANAGEMENT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7459E-E722-4339-9FFB-A35A0B68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B9D868-37B1-4C68-9F41-F8EFF036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 asset register makes value maintainable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1238250" y="1952625"/>
          <a:ext xmlns:a="http://schemas.openxmlformats.org/drawingml/2006/main" cx="9715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6762750"/>
              </a:tblGrid>
              <a:tr h="517071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</a:t>
                      </a:r>
                    </a:p>
                  </a:txBody>
                  <a:tcPr marL="133350" marR="133350" marT="66675" marB="66675" anchor="ctr">
                    <a:solidFill>
                      <a:srgbClr val="D765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Purpose</a:t>
                      </a:r>
                    </a:p>
                  </a:txBody>
                  <a:tcPr marL="133350" marR="133350" marT="66675" marB="66675" anchor="ctr">
                    <a:solidFill>
                      <a:srgbClr val="D76532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Stable asset ID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Tracks the source across systems and derivatives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Owner and steward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Names decision and maintenance responsibility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Audience and task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Connects the asset to customer value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Sources and derivatives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Shows lineage and reuse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Cost and value evidence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Supports investment and retirement decisions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Review date and status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Prevents silent decay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965285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0FC7A6-A14B-4892-B9CF-5B3DBD64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PORTFOLIO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E361D-6FCA-4E18-A19D-749356D1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A45849-1429-4998-A53B-5CB2B995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Value changes what the team does next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BE6FE-CAB8-4C6F-B3B2-36694DD2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Invest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BE6270-25A4-4E2E-A878-5B73F2E7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High importance, strong evidence, weak condition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E3977E-4781-4703-9E40-3C709072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Improve the source and close the highest-value gaps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2C61C6-4E17-4F77-B6B5-100FCC8B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5B8A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5B8A5"/>
                </a:solidFill>
                <a:latin typeface="Arial"/>
                <a:ea typeface="Arial"/>
                <a:cs typeface="Arial"/>
              </a:rPr>
              <a:t>Maintain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46777E-BBF9-420B-A2F9-99117D1F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3050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High value, healthy condition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9F00F8-EE58-490D-A8FC-A4AF62CA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622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Fund review, governance, and controlled reuse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CF70F1-62A9-4AAF-B281-E3FA3D1A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2A9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2A93B"/>
                </a:solidFill>
                <a:latin typeface="Arial"/>
                <a:ea typeface="Arial"/>
                <a:cs typeface="Arial"/>
              </a:rPr>
              <a:t>Consolidate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5E33A2-E05B-4C88-9031-B1CF73BE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Useful content with costly duplication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3162A7-0881-4BB2-9FC0-2E71C261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Choose a source, merge variants, and redirect traffic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6E4597-22E8-42E7-894E-50000B19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8576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189A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189A5"/>
                </a:solidFill>
                <a:latin typeface="Arial"/>
                <a:ea typeface="Arial"/>
                <a:cs typeface="Arial"/>
              </a:rPr>
              <a:t>Retire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7A6713-583A-43B3-BD96-940B0280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3529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Low use, low value, or superseded guidance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18D293-BEBC-4B1E-BBC2-C7E919B1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810125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Archive safely and preserve required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2AB2D1-8F2C-4523-9F6C-E8EC9BAB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19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register and scorecard turn a content audit into a funding conversation.</a:t>
            </a:r>
          </a:p>
        </p:txBody>
      </p:sp>
    </p:spTree>
    <p:extLst>
      <p:ext uri="{BB962C8B-B14F-4D97-AF65-F5344CB8AC3E}">
        <p14:creationId xmlns:p14="http://schemas.microsoft.com/office/powerpoint/2010/main" val="25872053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D9B1B-F967-4995-AFDD-8158604D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WHAT WE LEARNED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D25EB-DF25-4599-A237-A6C79873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53138D-05B5-43F3-9589-089DC970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Four lessons from the pilot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AB0F29-8658-41EA-8DB0-AAC4A7E6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Ownership affects adoption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CC4ED-96E4-4E53-8AB2-0DC3029B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907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B2FD3C-14A4-480E-A208-DC6A7808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1CC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CD5"/>
                </a:solidFill>
                <a:latin typeface="Arial"/>
                <a:ea typeface="Arial"/>
                <a:cs typeface="Arial"/>
              </a:rPr>
              <a:t>Changes in tools, control, and recognition need explicit decisions.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0DFFD4-2592-4CA3-98FF-31E8E477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95262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Participation must be easy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EC207A-4929-42F4-9667-21F4F3A1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3907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C74276-2217-44A8-80E1-3DF1E955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431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1CC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CD5"/>
                </a:solidFill>
                <a:latin typeface="Arial"/>
                <a:ea typeface="Arial"/>
                <a:cs typeface="Arial"/>
              </a:rPr>
              <a:t>Occasional contributors need a clear entry point and useful templates.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3BFD98-A6DB-4E3F-9661-CB994D55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Sponsors remove roadblocks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A17CDF-F720-4770-BDE3-28BDE43D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93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EBF27C-2A7B-4BA4-B411-648F0AC5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1CC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CD5"/>
                </a:solidFill>
                <a:latin typeface="Arial"/>
                <a:ea typeface="Arial"/>
                <a:cs typeface="Arial"/>
              </a:rPr>
              <a:t>Some cross-team choices need a leader with authority.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110F21-59CA-41ED-830B-A2351349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6712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measures settle debates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C46F04-C067-438B-A0FB-B06B6C72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052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9A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80E1C1-D843-4AE9-A372-347DC285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2576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1CC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CD5"/>
                </a:solidFill>
                <a:latin typeface="Arial"/>
                <a:ea typeface="Arial"/>
                <a:cs typeface="Arial"/>
              </a:rPr>
              <a:t>Customer outcomes and team effort create a common basis for decisions.</a:t>
            </a:r>
          </a:p>
        </p:txBody>
      </p:sp>
    </p:spTree>
    <p:extLst>
      <p:ext uri="{BB962C8B-B14F-4D97-AF65-F5344CB8AC3E}">
        <p14:creationId xmlns:p14="http://schemas.microsoft.com/office/powerpoint/2010/main" val="42083754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CC04B-6960-4A83-9BBB-A932C81A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308D5-F240-48ED-9E7E-204EBBB2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BC5657-517F-4E4E-AE7B-564E74B4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A 90-day starting plan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4FBD4B-C391-4C7C-B6B3-C37C3289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295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Days 1–30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4F62C-F9BB-4B3F-A7FC-0BE4ACAC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14325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0C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E2FAA-E120-429B-AA15-5860E5E5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714625"/>
            <a:ext cx="2667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Choose one difficult customer journey. Map the teams, content, owners, and current measures.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E4525-F2F4-4E7F-96D3-339707F5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952625"/>
            <a:ext cx="295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Days 31–60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428E2-73F8-48D7-9D48-4D5E3783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476500"/>
            <a:ext cx="314325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0C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04570D-AA06-4F24-B5DD-06C15C1B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14625"/>
            <a:ext cx="2667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Run a cross-functional audit. Record reuse, gaps, costs, and business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AB487F-E921-4326-9FA6-6C5707E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52625"/>
            <a:ext cx="295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Days 61–90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8DE543-30D5-4BA1-B027-9931A0C3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314325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0C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AC7A68-33AB-4651-841A-2F8D5438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714625"/>
            <a:ext cx="2667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Test the workflow and valuation scorecard. Make one invest, consolidate, maintain, or retire decision.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7C080B-E595-4434-B4AF-CCD36EE7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Start where coordination pain and customer value are both visible.</a:t>
            </a:r>
          </a:p>
        </p:txBody>
      </p:sp>
    </p:spTree>
    <p:extLst>
      <p:ext uri="{BB962C8B-B14F-4D97-AF65-F5344CB8AC3E}">
        <p14:creationId xmlns:p14="http://schemas.microsoft.com/office/powerpoint/2010/main" val="41525686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8AB7EA-325F-444D-8C2E-13BCBDFC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CONTENT AS A BUSINESS ASSET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877B10-3E92-4779-A391-B1F2ECDA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C0D06B-9B78-4A31-9158-F58972D7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Make the value visible, then manage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86BB1-38DB-41B7-8D99-4CE8A3CF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885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4CFD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C4CFD7"/>
                </a:solidFill>
                <a:latin typeface="Arial"/>
                <a:ea typeface="Arial"/>
                <a:cs typeface="Arial"/>
              </a:rPr>
              <a:t>Connect each asset to a customer task, an accountable owner, evidence of use, and a lifecycle decision.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2C4F5-EB94-4E44-9031-61BB1D32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838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BF0B9-F9ED-4410-876B-BC920E71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981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Begin with one journey. Find the overlap. Record the value. Fund the next decision.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771C3-7C76-4A0B-A006-D03CC15B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809517523"/>
      </p:ext>
    </p:extLst>
  </p:cSld>
</p:sld>
</file>

<file path=ppt/theme/theme1.xml><?xml version="1.0" encoding="utf-8"?>
<a:theme xmlns:a="http://schemas.openxmlformats.org/drawingml/2006/main" name="ChatGPT">
  <a:themeElements>
    <a:clrScheme name="Business Asset">
      <a:dk1>
        <a:srgbClr val="000000"/>
      </a:dk1>
      <a:lt1>
        <a:srgbClr val="FFFFFF"/>
      </a:lt1>
      <a:dk2>
        <a:srgbClr val="0B1B2A"/>
      </a:dk2>
      <a:lt2>
        <a:srgbClr val="F5F0E8"/>
      </a:lt2>
      <a:accent1>
        <a:srgbClr val="D76532"/>
      </a:accent1>
      <a:accent2>
        <a:srgbClr val="65B8A5"/>
      </a:accent2>
      <a:accent3>
        <a:srgbClr val="E2A93B"/>
      </a:accent3>
      <a:accent4>
        <a:srgbClr val="7189A5"/>
      </a:accent4>
      <a:accent5>
        <a:srgbClr val="142B40"/>
      </a:accent5>
      <a:accent6>
        <a:srgbClr val="E8E1D8"/>
      </a:accent6>
      <a:hlink>
        <a:srgbClr val="D76532"/>
      </a:hlink>
      <a:folHlink>
        <a:srgbClr val="7189A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usiness Asse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2026-09-18T18:01:25.9930000Z</dcterms:created>
  <dcterms:modified xsi:type="dcterms:W3CDTF">2026-09-18T18:01:25.9930000Z</dcterms:modified>
</coreProperties>
</file>