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826"/>
          </a:solidFill>
          <a:ln>
            <a:solidFill>
              <a:srgbClr val="0C18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F6836"/>
          </a:solidFill>
          <a:ln>
            <a:solidFill>
              <a:srgbClr val="CF68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7132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F6836"/>
                </a:solidFill>
                <a:latin typeface="Aptos"/>
              </a:rPr>
              <a:t>UNIFIED CONTENT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25880"/>
            <a:ext cx="98755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ptos"/>
              </a:rPr>
              <a:t>How cross-functional teams
build content together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401568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C0CDD9"/>
                </a:solidFill>
                <a:latin typeface="Aptos"/>
              </a:rPr>
              <a:t>A practical plan based on a product launch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82472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ptos"/>
              </a:rPr>
              <a:t>Sharmila Das  ·  Rebecca Rhee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6208776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87B8E"/>
                </a:solidFill>
                <a:latin typeface="Aptos"/>
              </a:rPr>
              <a:t>Content strategy, information architecture, and cross-team workflow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B"/>
          </a:solidFill>
          <a:ln>
            <a:solidFill>
              <a:srgbClr val="F6F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F6836"/>
                </a:solidFill>
                <a:latin typeface="Aptos"/>
              </a:rPr>
              <a:t>WHY THIS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85800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22D38"/>
                </a:solidFill>
                <a:latin typeface="Aptos"/>
              </a:rPr>
              <a:t>Customers see one experience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828800"/>
            <a:ext cx="6492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22D38"/>
                </a:solidFill>
                <a:latin typeface="Aptos"/>
              </a:rPr>
              <a:t>Many teams create the content.
Customers experience it as one journey.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18120" y="1600200"/>
            <a:ext cx="3611880" cy="3291840"/>
          </a:xfrm>
          <a:prstGeom prst="roundRect">
            <a:avLst/>
          </a:prstGeom>
          <a:solidFill>
            <a:srgbClr val="142537"/>
          </a:solidFill>
          <a:ln>
            <a:solidFill>
              <a:srgbClr val="142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938528"/>
            <a:ext cx="2926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ptos"/>
              </a:rPr>
              <a:t>Teams need agreement on: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2542032"/>
            <a:ext cx="2743200" cy="1920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buNone/>
              <a:spcAft>
                <a:spcPts val="12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rPr>
                <a:solidFill>
                  <a:srgbClr val="FFFFFF"/>
                </a:solidFill>
              </a:rPr>
              <a:t>•  the customer need</a:t>
            </a:r>
          </a:p>
          <a:p>
            <a:pPr>
              <a:buNone/>
              <a:spcAft>
                <a:spcPts val="12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rPr>
                <a:solidFill>
                  <a:srgbClr val="FFFFFF"/>
                </a:solidFill>
              </a:rPr>
              <a:t>•  the source information</a:t>
            </a:r>
          </a:p>
          <a:p>
            <a:pPr>
              <a:buNone/>
              <a:spcAft>
                <a:spcPts val="12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rPr>
                <a:solidFill>
                  <a:srgbClr val="FFFFFF"/>
                </a:solidFill>
              </a:rPr>
              <a:t>•  what can be reused</a:t>
            </a:r>
          </a:p>
          <a:p>
            <a:pPr>
              <a:buNone/>
              <a:spcAft>
                <a:spcPts val="12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rPr>
                <a:solidFill>
                  <a:srgbClr val="FFFFFF"/>
                </a:solidFill>
              </a:rPr>
              <a:t>•  ownership and measures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160520"/>
            <a:ext cx="6583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CF6836"/>
                </a:solidFill>
                <a:latin typeface="Aptos"/>
              </a:rPr>
              <a:t>That agreement cuts repeated work and keeps the customer journey consistent.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4652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687B8E"/>
                </a:solidFill>
                <a:latin typeface="Apto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826"/>
          </a:solidFill>
          <a:ln>
            <a:solidFill>
              <a:srgbClr val="0C18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F6836"/>
                </a:solidFill>
                <a:latin typeface="Aptos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85800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ptos"/>
              </a:rPr>
              <a:t>Fragmented teams create hidden content debt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057400"/>
            <a:ext cx="1828800" cy="1143000"/>
          </a:xfrm>
          <a:prstGeom prst="roundRect">
            <a:avLst/>
          </a:prstGeom>
          <a:solidFill>
            <a:srgbClr val="CF6836"/>
          </a:solidFill>
          <a:ln>
            <a:solidFill>
              <a:srgbClr val="CF68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2258568"/>
            <a:ext cx="157276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rgbClr val="0C1826"/>
                </a:solidFill>
                <a:latin typeface="Aptos"/>
              </a:rPr>
              <a:t>Marketing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1783080"/>
            <a:ext cx="1828800" cy="1143000"/>
          </a:xfrm>
          <a:prstGeom prst="roundRect">
            <a:avLst/>
          </a:prstGeom>
          <a:solidFill>
            <a:srgbClr val="7BC5AE"/>
          </a:solidFill>
          <a:ln>
            <a:solidFill>
              <a:srgbClr val="7BC5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85615" y="1984248"/>
            <a:ext cx="157276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rgbClr val="0C1826"/>
                </a:solidFill>
                <a:latin typeface="Aptos"/>
              </a:rPr>
              <a:t>Technical
publications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29400" y="1965960"/>
            <a:ext cx="1828800" cy="1143000"/>
          </a:xfrm>
          <a:prstGeom prst="roundRect">
            <a:avLst/>
          </a:prstGeom>
          <a:solidFill>
            <a:srgbClr val="E4AE47"/>
          </a:solidFill>
          <a:ln>
            <a:solidFill>
              <a:srgbClr val="E4AE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57416" y="2167128"/>
            <a:ext cx="157276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rgbClr val="0C1826"/>
                </a:solidFill>
                <a:latin typeface="Aptos"/>
              </a:rPr>
              <a:t>Customer
education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64040" y="1783080"/>
            <a:ext cx="1828800" cy="1143000"/>
          </a:xfrm>
          <a:prstGeom prst="roundRect">
            <a:avLst/>
          </a:prstGeom>
          <a:solidFill>
            <a:srgbClr val="687B8E"/>
          </a:solidFill>
          <a:ln>
            <a:solidFill>
              <a:srgbClr val="687B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92056" y="1984248"/>
            <a:ext cx="157276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rgbClr val="0C1826"/>
                </a:solidFill>
                <a:latin typeface="Aptos"/>
              </a:rPr>
              <a:t>Sales and
field support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7947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BBC9D4"/>
                </a:solidFill>
                <a:latin typeface="Aptos"/>
              </a:rPr>
              <a:t>Different tools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79476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BBC9D4"/>
                </a:solidFill>
                <a:latin typeface="Aptos"/>
              </a:rPr>
              <a:t>Repeated 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7947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BBC9D4"/>
                </a:solidFill>
                <a:latin typeface="Aptos"/>
              </a:rPr>
              <a:t>Conflicting versions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9720" y="37947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BBC9D4"/>
                </a:solidFill>
                <a:latin typeface="Aptos"/>
              </a:rPr>
              <a:t>Duplicate production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92040"/>
            <a:ext cx="102412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300" b="1" i="0">
                <a:solidFill>
                  <a:srgbClr val="FFFFFF"/>
                </a:solidFill>
                <a:latin typeface="Aptos"/>
              </a:rPr>
              <a:t>Each team finishes its assignment, but no one sees the whole customer journey.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44652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687B8E"/>
                </a:solidFill>
                <a:latin typeface="Apto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B"/>
          </a:solidFill>
          <a:ln>
            <a:solidFill>
              <a:srgbClr val="F6F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F6836"/>
                </a:solidFill>
                <a:latin typeface="Aptos"/>
              </a:rPr>
              <a:t>WORKING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85800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22D38"/>
                </a:solidFill>
                <a:latin typeface="Aptos"/>
              </a:rPr>
              <a:t>What teams agree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F6836"/>
                </a:solidFill>
                <a:latin typeface="Apto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12848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222D38"/>
                </a:solidFill>
                <a:latin typeface="Aptos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22860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2616F"/>
                </a:solidFill>
                <a:latin typeface="Aptos"/>
              </a:rPr>
              <a:t>Start with the same customer need and desired result.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315968"/>
            <a:ext cx="2148840" cy="64008"/>
          </a:xfrm>
          <a:prstGeom prst="rect">
            <a:avLst/>
          </a:prstGeom>
          <a:solidFill>
            <a:srgbClr val="CF6836"/>
          </a:solidFill>
          <a:ln>
            <a:solidFill>
              <a:srgbClr val="CF68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0" y="1828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F6836"/>
                </a:solidFill>
                <a:latin typeface="Apto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212848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222D38"/>
                </a:solidFill>
                <a:latin typeface="Aptos"/>
              </a:rPr>
              <a:t>Source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788920"/>
            <a:ext cx="22860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2616F"/>
                </a:solidFill>
                <a:latin typeface="Aptos"/>
              </a:rPr>
              <a:t>Use one approved explanation, claim, or procedure.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720" y="4315968"/>
            <a:ext cx="2148840" cy="64008"/>
          </a:xfrm>
          <a:prstGeom prst="rect">
            <a:avLst/>
          </a:prstGeom>
          <a:solidFill>
            <a:srgbClr val="7BC5AE"/>
          </a:solidFill>
          <a:ln>
            <a:solidFill>
              <a:srgbClr val="7BC5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828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F6836"/>
                </a:solidFill>
                <a:latin typeface="Aptos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212848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222D38"/>
                </a:solidFill>
                <a:latin typeface="Aptos"/>
              </a:rPr>
              <a:t>Ownership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788920"/>
            <a:ext cx="22860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2616F"/>
                </a:solidFill>
                <a:latin typeface="Aptos"/>
              </a:rPr>
              <a:t>Agree on who creates, reviews, and maintains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4315968"/>
            <a:ext cx="2148840" cy="64008"/>
          </a:xfrm>
          <a:prstGeom prst="rect">
            <a:avLst/>
          </a:prstGeom>
          <a:solidFill>
            <a:srgbClr val="E4AE47"/>
          </a:solidFill>
          <a:ln>
            <a:solidFill>
              <a:srgbClr val="E4AE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0" y="1828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F6836"/>
                </a:solidFill>
                <a:latin typeface="Aptos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212848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222D38"/>
                </a:solidFill>
                <a:latin typeface="Aptos"/>
              </a:rPr>
              <a:t>Delivery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788920"/>
            <a:ext cx="22860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2616F"/>
                </a:solidFill>
                <a:latin typeface="Aptos"/>
              </a:rPr>
              <a:t>Adapt the source for each audience and channel.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0" y="4315968"/>
            <a:ext cx="2148840" cy="64008"/>
          </a:xfrm>
          <a:prstGeom prst="rect">
            <a:avLst/>
          </a:prstGeom>
          <a:solidFill>
            <a:srgbClr val="687B8E"/>
          </a:solidFill>
          <a:ln>
            <a:solidFill>
              <a:srgbClr val="687B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5166360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222D38"/>
                </a:solidFill>
                <a:latin typeface="Aptos"/>
              </a:rPr>
              <a:t>Teams can keep the tools and formats that fit their work while coordinating the decisions that affect everyone.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92840" y="644652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687B8E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826"/>
          </a:solidFill>
          <a:ln>
            <a:solidFill>
              <a:srgbClr val="0C18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F6836"/>
                </a:solidFill>
                <a:latin typeface="Aptos"/>
              </a:rPr>
              <a:t>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85800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ptos"/>
              </a:rPr>
              <a:t>Seven steps that worked for us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72768"/>
            <a:ext cx="420624" cy="420624"/>
          </a:xfrm>
          <a:prstGeom prst="roundRect">
            <a:avLst/>
          </a:prstGeom>
          <a:solidFill>
            <a:srgbClr val="CF6836"/>
          </a:solidFill>
          <a:ln>
            <a:solidFill>
              <a:srgbClr val="CF68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56362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Aptos"/>
              </a:rPr>
              <a:t>Analyze the business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923544" y="1993392"/>
            <a:ext cx="36576" cy="210312"/>
          </a:xfrm>
          <a:prstGeom prst="rect">
            <a:avLst/>
          </a:prstGeom>
          <a:solidFill>
            <a:srgbClr val="687B8E"/>
          </a:solidFill>
          <a:ln>
            <a:solidFill>
              <a:srgbClr val="687B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2203704"/>
            <a:ext cx="420624" cy="420624"/>
          </a:xfrm>
          <a:prstGeom prst="roundRect">
            <a:avLst/>
          </a:prstGeom>
          <a:solidFill>
            <a:srgbClr val="142537"/>
          </a:solidFill>
          <a:ln>
            <a:solidFill>
              <a:srgbClr val="CF68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31136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312" y="2194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Aptos"/>
              </a:rPr>
              <a:t>Inventory content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3544" y="2624328"/>
            <a:ext cx="36576" cy="210312"/>
          </a:xfrm>
          <a:prstGeom prst="rect">
            <a:avLst/>
          </a:prstGeom>
          <a:solidFill>
            <a:srgbClr val="687B8E"/>
          </a:solidFill>
          <a:ln>
            <a:solidFill>
              <a:srgbClr val="687B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2834639"/>
            <a:ext cx="420624" cy="420624"/>
          </a:xfrm>
          <a:prstGeom prst="roundRect">
            <a:avLst/>
          </a:prstGeom>
          <a:solidFill>
            <a:srgbClr val="142537"/>
          </a:solidFill>
          <a:ln>
            <a:solidFill>
              <a:srgbClr val="CF68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862071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53312" y="282549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Aptos"/>
              </a:rPr>
              <a:t>Research audiences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3544" y="3255263"/>
            <a:ext cx="36576" cy="210312"/>
          </a:xfrm>
          <a:prstGeom prst="rect">
            <a:avLst/>
          </a:prstGeom>
          <a:solidFill>
            <a:srgbClr val="687B8E"/>
          </a:solidFill>
          <a:ln>
            <a:solidFill>
              <a:srgbClr val="687B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31520" y="3465576"/>
            <a:ext cx="420624" cy="420624"/>
          </a:xfrm>
          <a:prstGeom prst="roundRect">
            <a:avLst/>
          </a:prstGeom>
          <a:solidFill>
            <a:srgbClr val="142537"/>
          </a:solidFill>
          <a:ln>
            <a:solidFill>
              <a:srgbClr val="CF68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493008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53312" y="3456432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Aptos"/>
              </a:rPr>
              <a:t>Assess content quality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3544" y="3886200"/>
            <a:ext cx="36576" cy="210312"/>
          </a:xfrm>
          <a:prstGeom prst="rect">
            <a:avLst/>
          </a:prstGeom>
          <a:solidFill>
            <a:srgbClr val="687B8E"/>
          </a:solidFill>
          <a:ln>
            <a:solidFill>
              <a:srgbClr val="687B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1520" y="4096511"/>
            <a:ext cx="420624" cy="420624"/>
          </a:xfrm>
          <a:prstGeom prst="roundRect">
            <a:avLst/>
          </a:prstGeom>
          <a:solidFill>
            <a:srgbClr val="142537"/>
          </a:solidFill>
          <a:ln>
            <a:solidFill>
              <a:srgbClr val="CF68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123944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53312" y="408736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Aptos"/>
              </a:rPr>
              <a:t>Measure performance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3544" y="4517136"/>
            <a:ext cx="36576" cy="210312"/>
          </a:xfrm>
          <a:prstGeom prst="rect">
            <a:avLst/>
          </a:prstGeom>
          <a:solidFill>
            <a:srgbClr val="687B8E"/>
          </a:solidFill>
          <a:ln>
            <a:solidFill>
              <a:srgbClr val="687B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1520" y="4727448"/>
            <a:ext cx="420624" cy="420624"/>
          </a:xfrm>
          <a:prstGeom prst="roundRect">
            <a:avLst/>
          </a:prstGeom>
          <a:solidFill>
            <a:srgbClr val="CF6836"/>
          </a:solidFill>
          <a:ln>
            <a:solidFill>
              <a:srgbClr val="CF68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4754880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3312" y="471830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Aptos"/>
              </a:rPr>
              <a:t>Build the roadmap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3544" y="5148072"/>
            <a:ext cx="36576" cy="210312"/>
          </a:xfrm>
          <a:prstGeom prst="rect">
            <a:avLst/>
          </a:prstGeom>
          <a:solidFill>
            <a:srgbClr val="687B8E"/>
          </a:solidFill>
          <a:ln>
            <a:solidFill>
              <a:srgbClr val="687B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31520" y="5358383"/>
            <a:ext cx="420624" cy="420624"/>
          </a:xfrm>
          <a:prstGeom prst="roundRect">
            <a:avLst/>
          </a:prstGeom>
          <a:solidFill>
            <a:srgbClr val="CF6836"/>
          </a:solidFill>
          <a:ln>
            <a:solidFill>
              <a:srgbClr val="CF68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385816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ptos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53312" y="534924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Aptos"/>
              </a:rPr>
              <a:t>Publish, track, improve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1965960"/>
            <a:ext cx="44805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D1DBE4"/>
                </a:solidFill>
                <a:latin typeface="Aptos"/>
              </a:rPr>
              <a:t>Begin with the business and customer problem. Choose tools only after the team understands the work.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92840" y="644652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687B8E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B"/>
          </a:solidFill>
          <a:ln>
            <a:solidFill>
              <a:srgbClr val="F6F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F6836"/>
                </a:solidFill>
                <a:latin typeface="Aptos"/>
              </a:rPr>
              <a:t>STEP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85800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22D38"/>
                </a:solidFill>
                <a:latin typeface="Aptos"/>
              </a:rPr>
              <a:t>Business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1732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CF6836"/>
                </a:solidFill>
                <a:latin typeface="Aptos"/>
              </a:rPr>
              <a:t>Content priorities should reflect how the organization creates value and where customers struggle.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67712"/>
            <a:ext cx="521208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E0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63640" y="2267712"/>
            <a:ext cx="5212080" cy="3246120"/>
          </a:xfrm>
          <a:prstGeom prst="roundRect">
            <a:avLst/>
          </a:prstGeom>
          <a:solidFill>
            <a:srgbClr val="142537"/>
          </a:solidFill>
          <a:ln>
            <a:solidFill>
              <a:srgbClr val="142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578608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222D38"/>
                </a:solidFill>
                <a:latin typeface="Aptos"/>
              </a:rPr>
              <a:t>Internal 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127248"/>
            <a:ext cx="4480560" cy="2057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buNone/>
              <a:spcAft>
                <a:spcPts val="1000"/>
              </a:spcAft>
              <a:defRPr sz="1600">
                <a:solidFill>
                  <a:srgbClr val="222D38"/>
                </a:solidFill>
                <a:latin typeface="Aptos"/>
              </a:defRPr>
            </a:pPr>
            <a:r>
              <a:rPr>
                <a:solidFill>
                  <a:srgbClr val="222D38"/>
                </a:solidFill>
              </a:rPr>
              <a:t>•  products and services</a:t>
            </a:r>
          </a:p>
          <a:p>
            <a:pPr>
              <a:buNone/>
              <a:spcAft>
                <a:spcPts val="1000"/>
              </a:spcAft>
              <a:defRPr sz="1600">
                <a:solidFill>
                  <a:srgbClr val="222D38"/>
                </a:solidFill>
                <a:latin typeface="Aptos"/>
              </a:defRPr>
            </a:pPr>
            <a:r>
              <a:rPr>
                <a:solidFill>
                  <a:srgbClr val="222D38"/>
                </a:solidFill>
              </a:rPr>
              <a:t>•  revenue and cost pressures</a:t>
            </a:r>
          </a:p>
          <a:p>
            <a:pPr>
              <a:buNone/>
              <a:spcAft>
                <a:spcPts val="1000"/>
              </a:spcAft>
              <a:defRPr sz="1600">
                <a:solidFill>
                  <a:srgbClr val="222D38"/>
                </a:solidFill>
                <a:latin typeface="Aptos"/>
              </a:defRPr>
            </a:pPr>
            <a:r>
              <a:rPr>
                <a:solidFill>
                  <a:srgbClr val="222D38"/>
                </a:solidFill>
              </a:rPr>
              <a:t>•  strategic priorities</a:t>
            </a:r>
          </a:p>
          <a:p>
            <a:pPr>
              <a:buNone/>
              <a:spcAft>
                <a:spcPts val="1000"/>
              </a:spcAft>
              <a:defRPr sz="1600">
                <a:solidFill>
                  <a:srgbClr val="222D38"/>
                </a:solidFill>
                <a:latin typeface="Aptos"/>
              </a:defRPr>
            </a:pPr>
            <a:r>
              <a:rPr>
                <a:solidFill>
                  <a:srgbClr val="222D38"/>
                </a:solidFill>
              </a:rPr>
              <a:t>•  operating constraints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578608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ptos"/>
              </a:rPr>
              <a:t>External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3127248"/>
            <a:ext cx="4480560" cy="2057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buNone/>
              <a:spcAft>
                <a:spcPts val="10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rPr>
                <a:solidFill>
                  <a:srgbClr val="FFFFFF"/>
                </a:solidFill>
              </a:rPr>
              <a:t>•  customer expectations</a:t>
            </a:r>
          </a:p>
          <a:p>
            <a:pPr>
              <a:buNone/>
              <a:spcAft>
                <a:spcPts val="10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rPr>
                <a:solidFill>
                  <a:srgbClr val="FFFFFF"/>
                </a:solidFill>
              </a:rPr>
              <a:t>•  competitive alternatives</a:t>
            </a:r>
          </a:p>
          <a:p>
            <a:pPr>
              <a:buNone/>
              <a:spcAft>
                <a:spcPts val="10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rPr>
                <a:solidFill>
                  <a:srgbClr val="FFFFFF"/>
                </a:solidFill>
              </a:rPr>
              <a:t>•  market and regulatory shifts</a:t>
            </a:r>
          </a:p>
          <a:p>
            <a:pPr>
              <a:buNone/>
              <a:spcAft>
                <a:spcPts val="10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rPr>
                <a:solidFill>
                  <a:srgbClr val="FFFFFF"/>
                </a:solidFill>
              </a:rPr>
              <a:t>•  channel behavior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4652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687B8E"/>
                </a:solidFill>
                <a:latin typeface="Apto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B"/>
          </a:solidFill>
          <a:ln>
            <a:solidFill>
              <a:srgbClr val="F6F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F6836"/>
                </a:solidFill>
                <a:latin typeface="Aptos"/>
              </a:rPr>
              <a:t>STEP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85800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22D38"/>
                </a:solidFill>
                <a:latin typeface="Aptos"/>
              </a:rPr>
              <a:t>A usable content inventory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1732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CF6836"/>
                </a:solidFill>
                <a:latin typeface="Aptos"/>
              </a:rPr>
              <a:t>Collect enough detail to make decisions and stop when the patterns are clear.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67712"/>
            <a:ext cx="521208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E0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63640" y="2267712"/>
            <a:ext cx="5212080" cy="3246120"/>
          </a:xfrm>
          <a:prstGeom prst="roundRect">
            <a:avLst/>
          </a:prstGeom>
          <a:solidFill>
            <a:srgbClr val="142537"/>
          </a:solidFill>
          <a:ln>
            <a:solidFill>
              <a:srgbClr val="142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578608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222D38"/>
                </a:solidFill>
                <a:latin typeface="Aptos"/>
              </a:rPr>
              <a:t>Capture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127248"/>
            <a:ext cx="4480560" cy="2057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buNone/>
              <a:spcAft>
                <a:spcPts val="1000"/>
              </a:spcAft>
              <a:defRPr sz="1600">
                <a:solidFill>
                  <a:srgbClr val="222D38"/>
                </a:solidFill>
                <a:latin typeface="Aptos"/>
              </a:defRPr>
            </a:pPr>
            <a:r>
              <a:rPr>
                <a:solidFill>
                  <a:srgbClr val="222D38"/>
                </a:solidFill>
              </a:rPr>
              <a:t>•  URL or asset location</a:t>
            </a:r>
          </a:p>
          <a:p>
            <a:pPr>
              <a:buNone/>
              <a:spcAft>
                <a:spcPts val="1000"/>
              </a:spcAft>
              <a:defRPr sz="1600">
                <a:solidFill>
                  <a:srgbClr val="222D38"/>
                </a:solidFill>
                <a:latin typeface="Aptos"/>
              </a:defRPr>
            </a:pPr>
            <a:r>
              <a:rPr>
                <a:solidFill>
                  <a:srgbClr val="222D38"/>
                </a:solidFill>
              </a:rPr>
              <a:t>•  owner and audience</a:t>
            </a:r>
          </a:p>
          <a:p>
            <a:pPr>
              <a:buNone/>
              <a:spcAft>
                <a:spcPts val="1000"/>
              </a:spcAft>
              <a:defRPr sz="1600">
                <a:solidFill>
                  <a:srgbClr val="222D38"/>
                </a:solidFill>
                <a:latin typeface="Aptos"/>
              </a:defRPr>
            </a:pPr>
            <a:r>
              <a:rPr>
                <a:solidFill>
                  <a:srgbClr val="222D38"/>
                </a:solidFill>
              </a:rPr>
              <a:t>•  format, channel, and lifecycle state</a:t>
            </a:r>
          </a:p>
          <a:p>
            <a:pPr>
              <a:buNone/>
              <a:spcAft>
                <a:spcPts val="1000"/>
              </a:spcAft>
              <a:defRPr sz="1600">
                <a:solidFill>
                  <a:srgbClr val="222D38"/>
                </a:solidFill>
                <a:latin typeface="Aptos"/>
              </a:defRPr>
            </a:pPr>
            <a:r>
              <a:rPr>
                <a:solidFill>
                  <a:srgbClr val="222D38"/>
                </a:solidFill>
              </a:rPr>
              <a:t>•  performance data when available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578608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ptos"/>
              </a:rPr>
              <a:t>Use it to find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3127248"/>
            <a:ext cx="4480560" cy="2057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buNone/>
              <a:spcAft>
                <a:spcPts val="10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rPr>
                <a:solidFill>
                  <a:srgbClr val="FFFFFF"/>
                </a:solidFill>
              </a:rPr>
              <a:t>•  duplication and contradiction</a:t>
            </a:r>
          </a:p>
          <a:p>
            <a:pPr>
              <a:buNone/>
              <a:spcAft>
                <a:spcPts val="10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rPr>
                <a:solidFill>
                  <a:srgbClr val="FFFFFF"/>
                </a:solidFill>
              </a:rPr>
              <a:t>•  gaps in the customer journey</a:t>
            </a:r>
          </a:p>
          <a:p>
            <a:pPr>
              <a:buNone/>
              <a:spcAft>
                <a:spcPts val="10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rPr>
                <a:solidFill>
                  <a:srgbClr val="FFFFFF"/>
                </a:solidFill>
              </a:rPr>
              <a:t>•  orphaned or outdated content</a:t>
            </a:r>
          </a:p>
          <a:p>
            <a:pPr>
              <a:buNone/>
              <a:spcAft>
                <a:spcPts val="10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rPr>
                <a:solidFill>
                  <a:srgbClr val="FFFFFF"/>
                </a:solidFill>
              </a:rPr>
              <a:t>•  high-value reuse candidates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4652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687B8E"/>
                </a:solidFill>
                <a:latin typeface="Apto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B"/>
          </a:solidFill>
          <a:ln>
            <a:solidFill>
              <a:srgbClr val="F6F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F6836"/>
                </a:solidFill>
                <a:latin typeface="Aptos"/>
              </a:rPr>
              <a:t>STEP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85800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22D38"/>
                </a:solidFill>
                <a:latin typeface="Aptos"/>
              </a:rPr>
              <a:t>Audience needs and journeys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1732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CF6836"/>
                </a:solidFill>
                <a:latin typeface="Aptos"/>
              </a:rPr>
              <a:t>A persona becomes useful when it changes a content decision.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67712"/>
            <a:ext cx="521208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E0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63640" y="2267712"/>
            <a:ext cx="5212080" cy="3246120"/>
          </a:xfrm>
          <a:prstGeom prst="roundRect">
            <a:avLst/>
          </a:prstGeom>
          <a:solidFill>
            <a:srgbClr val="142537"/>
          </a:solidFill>
          <a:ln>
            <a:solidFill>
              <a:srgbClr val="142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578608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222D38"/>
                </a:solidFill>
                <a:latin typeface="Aptos"/>
              </a:rPr>
              <a:t>Understand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127248"/>
            <a:ext cx="4480560" cy="2057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buNone/>
              <a:spcAft>
                <a:spcPts val="1000"/>
              </a:spcAft>
              <a:defRPr sz="1600">
                <a:solidFill>
                  <a:srgbClr val="222D38"/>
                </a:solidFill>
                <a:latin typeface="Aptos"/>
              </a:defRPr>
            </a:pPr>
            <a:r>
              <a:rPr>
                <a:solidFill>
                  <a:srgbClr val="222D38"/>
                </a:solidFill>
              </a:rPr>
              <a:t>•  role and responsibility</a:t>
            </a:r>
          </a:p>
          <a:p>
            <a:pPr>
              <a:buNone/>
              <a:spcAft>
                <a:spcPts val="1000"/>
              </a:spcAft>
              <a:defRPr sz="1600">
                <a:solidFill>
                  <a:srgbClr val="222D38"/>
                </a:solidFill>
                <a:latin typeface="Aptos"/>
              </a:defRPr>
            </a:pPr>
            <a:r>
              <a:rPr>
                <a:solidFill>
                  <a:srgbClr val="222D38"/>
                </a:solidFill>
              </a:rPr>
              <a:t>•  task or decision</a:t>
            </a:r>
          </a:p>
          <a:p>
            <a:pPr>
              <a:buNone/>
              <a:spcAft>
                <a:spcPts val="1000"/>
              </a:spcAft>
              <a:defRPr sz="1600">
                <a:solidFill>
                  <a:srgbClr val="222D38"/>
                </a:solidFill>
                <a:latin typeface="Aptos"/>
              </a:defRPr>
            </a:pPr>
            <a:r>
              <a:rPr>
                <a:solidFill>
                  <a:srgbClr val="222D38"/>
                </a:solidFill>
              </a:rPr>
              <a:t>•  questions and barriers</a:t>
            </a:r>
          </a:p>
          <a:p>
            <a:pPr>
              <a:buNone/>
              <a:spcAft>
                <a:spcPts val="1000"/>
              </a:spcAft>
              <a:defRPr sz="1600">
                <a:solidFill>
                  <a:srgbClr val="222D38"/>
                </a:solidFill>
                <a:latin typeface="Aptos"/>
              </a:defRPr>
            </a:pPr>
            <a:r>
              <a:rPr>
                <a:solidFill>
                  <a:srgbClr val="222D38"/>
                </a:solidFill>
              </a:rPr>
              <a:t>•  preferred access 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578608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ptos"/>
              </a:rPr>
              <a:t>Connect to journey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3127248"/>
            <a:ext cx="4480560" cy="2057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buNone/>
              <a:spcAft>
                <a:spcPts val="10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rPr>
                <a:solidFill>
                  <a:srgbClr val="FFFFFF"/>
                </a:solidFill>
              </a:rPr>
              <a:t>•  discover and evaluate</a:t>
            </a:r>
          </a:p>
          <a:p>
            <a:pPr>
              <a:buNone/>
              <a:spcAft>
                <a:spcPts val="10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rPr>
                <a:solidFill>
                  <a:srgbClr val="FFFFFF"/>
                </a:solidFill>
              </a:rPr>
              <a:t>•  purchase and onboard</a:t>
            </a:r>
          </a:p>
          <a:p>
            <a:pPr>
              <a:buNone/>
              <a:spcAft>
                <a:spcPts val="10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rPr>
                <a:solidFill>
                  <a:srgbClr val="FFFFFF"/>
                </a:solidFill>
              </a:rPr>
              <a:t>•  use and troubleshoot</a:t>
            </a:r>
          </a:p>
          <a:p>
            <a:pPr>
              <a:buNone/>
              <a:spcAft>
                <a:spcPts val="10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rPr>
                <a:solidFill>
                  <a:srgbClr val="FFFFFF"/>
                </a:solidFill>
              </a:rPr>
              <a:t>•  adopt and advocate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4652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687B8E"/>
                </a:solidFill>
                <a:latin typeface="Apto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B"/>
          </a:solidFill>
          <a:ln>
            <a:solidFill>
              <a:srgbClr val="F6F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F6836"/>
                </a:solidFill>
                <a:latin typeface="Aptos"/>
              </a:rPr>
              <a:t>STEP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85800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22D38"/>
                </a:solidFill>
                <a:latin typeface="Aptos"/>
              </a:rPr>
              <a:t>Content quality and reuse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1732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CF6836"/>
                </a:solidFill>
                <a:latin typeface="Aptos"/>
              </a:rPr>
              <a:t>A polished asset can still be inaccurate, hard to find, or difficult to reuse.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67712"/>
            <a:ext cx="521208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E0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63640" y="2267712"/>
            <a:ext cx="5212080" cy="3246120"/>
          </a:xfrm>
          <a:prstGeom prst="roundRect">
            <a:avLst/>
          </a:prstGeom>
          <a:solidFill>
            <a:srgbClr val="142537"/>
          </a:solidFill>
          <a:ln>
            <a:solidFill>
              <a:srgbClr val="142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578608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222D38"/>
                </a:solidFill>
                <a:latin typeface="Aptos"/>
              </a:rPr>
              <a:t>Quality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127248"/>
            <a:ext cx="4480560" cy="2057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buNone/>
              <a:spcAft>
                <a:spcPts val="1000"/>
              </a:spcAft>
              <a:defRPr sz="1600">
                <a:solidFill>
                  <a:srgbClr val="222D38"/>
                </a:solidFill>
                <a:latin typeface="Aptos"/>
              </a:defRPr>
            </a:pPr>
            <a:r>
              <a:rPr>
                <a:solidFill>
                  <a:srgbClr val="222D38"/>
                </a:solidFill>
              </a:rPr>
              <a:t>•  accuracy and currency</a:t>
            </a:r>
          </a:p>
          <a:p>
            <a:pPr>
              <a:buNone/>
              <a:spcAft>
                <a:spcPts val="1000"/>
              </a:spcAft>
              <a:defRPr sz="1600">
                <a:solidFill>
                  <a:srgbClr val="222D38"/>
                </a:solidFill>
                <a:latin typeface="Aptos"/>
              </a:defRPr>
            </a:pPr>
            <a:r>
              <a:rPr>
                <a:solidFill>
                  <a:srgbClr val="222D38"/>
                </a:solidFill>
              </a:rPr>
              <a:t>•  clarity and organization</a:t>
            </a:r>
          </a:p>
          <a:p>
            <a:pPr>
              <a:buNone/>
              <a:spcAft>
                <a:spcPts val="1000"/>
              </a:spcAft>
              <a:defRPr sz="1600">
                <a:solidFill>
                  <a:srgbClr val="222D38"/>
                </a:solidFill>
                <a:latin typeface="Aptos"/>
              </a:defRPr>
            </a:pPr>
            <a:r>
              <a:rPr>
                <a:solidFill>
                  <a:srgbClr val="222D38"/>
                </a:solidFill>
              </a:rPr>
              <a:t>•  findability and metadata</a:t>
            </a:r>
          </a:p>
          <a:p>
            <a:pPr>
              <a:buNone/>
              <a:spcAft>
                <a:spcPts val="1000"/>
              </a:spcAft>
              <a:defRPr sz="1600">
                <a:solidFill>
                  <a:srgbClr val="222D38"/>
                </a:solidFill>
                <a:latin typeface="Aptos"/>
              </a:defRPr>
            </a:pPr>
            <a:r>
              <a:rPr>
                <a:solidFill>
                  <a:srgbClr val="222D38"/>
                </a:solidFill>
              </a:rPr>
              <a:t>•  accessibility and usability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578608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ptos"/>
              </a:rPr>
              <a:t>Reuse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3127248"/>
            <a:ext cx="4480560" cy="2057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buNone/>
              <a:spcAft>
                <a:spcPts val="10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rPr>
                <a:solidFill>
                  <a:srgbClr val="FFFFFF"/>
                </a:solidFill>
              </a:rPr>
              <a:t>•  source ownership</a:t>
            </a:r>
          </a:p>
          <a:p>
            <a:pPr>
              <a:buNone/>
              <a:spcAft>
                <a:spcPts val="10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rPr>
                <a:solidFill>
                  <a:srgbClr val="FFFFFF"/>
                </a:solidFill>
              </a:rPr>
              <a:t>•  content granularity</a:t>
            </a:r>
          </a:p>
          <a:p>
            <a:pPr>
              <a:buNone/>
              <a:spcAft>
                <a:spcPts val="10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rPr>
                <a:solidFill>
                  <a:srgbClr val="FFFFFF"/>
                </a:solidFill>
              </a:rPr>
              <a:t>•  format dependence</a:t>
            </a:r>
          </a:p>
          <a:p>
            <a:pPr>
              <a:buNone/>
              <a:spcAft>
                <a:spcPts val="10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rPr>
                <a:solidFill>
                  <a:srgbClr val="FFFFFF"/>
                </a:solidFill>
              </a:rPr>
              <a:t>•  rights and lifecycle constraints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4652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687B8E"/>
                </a:solidFill>
                <a:latin typeface="Apto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B"/>
          </a:solidFill>
          <a:ln>
            <a:solidFill>
              <a:srgbClr val="F6F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F6836"/>
                </a:solidFill>
                <a:latin typeface="Aptos"/>
              </a:rPr>
              <a:t>STEP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85800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22D38"/>
                </a:solidFill>
                <a:latin typeface="Aptos"/>
              </a:rPr>
              <a:t>Customer use and team effort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1732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CF6836"/>
                </a:solidFill>
                <a:latin typeface="Aptos"/>
              </a:rPr>
              <a:t>Pair customer data with production data so the team can see what helps and what slows the work.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67712"/>
            <a:ext cx="521208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E0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63640" y="2267712"/>
            <a:ext cx="5212080" cy="3246120"/>
          </a:xfrm>
          <a:prstGeom prst="roundRect">
            <a:avLst/>
          </a:prstGeom>
          <a:solidFill>
            <a:srgbClr val="142537"/>
          </a:solidFill>
          <a:ln>
            <a:solidFill>
              <a:srgbClr val="142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578608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222D38"/>
                </a:solidFill>
                <a:latin typeface="Aptos"/>
              </a:rPr>
              <a:t>Customer signals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127248"/>
            <a:ext cx="4480560" cy="2057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buNone/>
              <a:spcAft>
                <a:spcPts val="1000"/>
              </a:spcAft>
              <a:defRPr sz="1600">
                <a:solidFill>
                  <a:srgbClr val="222D38"/>
                </a:solidFill>
                <a:latin typeface="Aptos"/>
              </a:defRPr>
            </a:pPr>
            <a:r>
              <a:rPr>
                <a:solidFill>
                  <a:srgbClr val="222D38"/>
                </a:solidFill>
              </a:rPr>
              <a:t>•  views, search, and completion</a:t>
            </a:r>
          </a:p>
          <a:p>
            <a:pPr>
              <a:buNone/>
              <a:spcAft>
                <a:spcPts val="1000"/>
              </a:spcAft>
              <a:defRPr sz="1600">
                <a:solidFill>
                  <a:srgbClr val="222D38"/>
                </a:solidFill>
                <a:latin typeface="Aptos"/>
              </a:defRPr>
            </a:pPr>
            <a:r>
              <a:rPr>
                <a:solidFill>
                  <a:srgbClr val="222D38"/>
                </a:solidFill>
              </a:rPr>
              <a:t>•  downloads and engagement</a:t>
            </a:r>
          </a:p>
          <a:p>
            <a:pPr>
              <a:buNone/>
              <a:spcAft>
                <a:spcPts val="1000"/>
              </a:spcAft>
              <a:defRPr sz="1600">
                <a:solidFill>
                  <a:srgbClr val="222D38"/>
                </a:solidFill>
                <a:latin typeface="Aptos"/>
              </a:defRPr>
            </a:pPr>
            <a:r>
              <a:rPr>
                <a:solidFill>
                  <a:srgbClr val="222D38"/>
                </a:solidFill>
              </a:rPr>
              <a:t>•  support deflection</a:t>
            </a:r>
          </a:p>
          <a:p>
            <a:pPr>
              <a:buNone/>
              <a:spcAft>
                <a:spcPts val="1000"/>
              </a:spcAft>
              <a:defRPr sz="1600">
                <a:solidFill>
                  <a:srgbClr val="222D38"/>
                </a:solidFill>
                <a:latin typeface="Aptos"/>
              </a:defRPr>
            </a:pPr>
            <a:r>
              <a:rPr>
                <a:solidFill>
                  <a:srgbClr val="222D38"/>
                </a:solidFill>
              </a:rPr>
              <a:t>•  task success and feedback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578608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ptos"/>
              </a:rPr>
              <a:t>Team signals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3127248"/>
            <a:ext cx="4480560" cy="2057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buNone/>
              <a:spcAft>
                <a:spcPts val="10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rPr>
                <a:solidFill>
                  <a:srgbClr val="FFFFFF"/>
                </a:solidFill>
              </a:rPr>
              <a:t>•  cycle time and rework</a:t>
            </a:r>
          </a:p>
          <a:p>
            <a:pPr>
              <a:buNone/>
              <a:spcAft>
                <a:spcPts val="10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rPr>
                <a:solidFill>
                  <a:srgbClr val="FFFFFF"/>
                </a:solidFill>
              </a:rPr>
              <a:t>•  review effort</a:t>
            </a:r>
          </a:p>
          <a:p>
            <a:pPr>
              <a:buNone/>
              <a:spcAft>
                <a:spcPts val="10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rPr>
                <a:solidFill>
                  <a:srgbClr val="FFFFFF"/>
                </a:solidFill>
              </a:rPr>
              <a:t>•  duplicate production</a:t>
            </a:r>
          </a:p>
          <a:p>
            <a:pPr>
              <a:buNone/>
              <a:spcAft>
                <a:spcPts val="10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rPr>
                <a:solidFill>
                  <a:srgbClr val="FFFFFF"/>
                </a:solidFill>
              </a:rPr>
              <a:t>•  reuse across teams and channels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4652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687B8E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B"/>
          </a:solidFill>
          <a:ln>
            <a:solidFill>
              <a:srgbClr val="F6F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F6836"/>
                </a:solidFill>
                <a:latin typeface="Aptos"/>
              </a:rPr>
              <a:t>STEP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85800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22D38"/>
                </a:solidFill>
                <a:latin typeface="Aptos"/>
              </a:rPr>
              <a:t>The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1732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CF6836"/>
                </a:solidFill>
                <a:latin typeface="Aptos"/>
              </a:rPr>
              <a:t>The roadmap connects audience needs with topics, sources, channels, owners, and timing.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67712"/>
            <a:ext cx="521208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E0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63640" y="2267712"/>
            <a:ext cx="5212080" cy="3246120"/>
          </a:xfrm>
          <a:prstGeom prst="roundRect">
            <a:avLst/>
          </a:prstGeom>
          <a:solidFill>
            <a:srgbClr val="142537"/>
          </a:solidFill>
          <a:ln>
            <a:solidFill>
              <a:srgbClr val="142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578608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222D38"/>
                </a:solidFill>
                <a:latin typeface="Aptos"/>
              </a:rPr>
              <a:t>Roadmap fields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127248"/>
            <a:ext cx="4480560" cy="2057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buNone/>
              <a:spcAft>
                <a:spcPts val="1000"/>
              </a:spcAft>
              <a:defRPr sz="1600">
                <a:solidFill>
                  <a:srgbClr val="222D38"/>
                </a:solidFill>
                <a:latin typeface="Aptos"/>
              </a:defRPr>
            </a:pPr>
            <a:r>
              <a:rPr>
                <a:solidFill>
                  <a:srgbClr val="222D38"/>
                </a:solidFill>
              </a:rPr>
              <a:t>•  topic and purpose</a:t>
            </a:r>
          </a:p>
          <a:p>
            <a:pPr>
              <a:buNone/>
              <a:spcAft>
                <a:spcPts val="1000"/>
              </a:spcAft>
              <a:defRPr sz="1600">
                <a:solidFill>
                  <a:srgbClr val="222D38"/>
                </a:solidFill>
                <a:latin typeface="Aptos"/>
              </a:defRPr>
            </a:pPr>
            <a:r>
              <a:rPr>
                <a:solidFill>
                  <a:srgbClr val="222D38"/>
                </a:solidFill>
              </a:rPr>
              <a:t>•  journey stage</a:t>
            </a:r>
          </a:p>
          <a:p>
            <a:pPr>
              <a:buNone/>
              <a:spcAft>
                <a:spcPts val="1000"/>
              </a:spcAft>
              <a:defRPr sz="1600">
                <a:solidFill>
                  <a:srgbClr val="222D38"/>
                </a:solidFill>
                <a:latin typeface="Aptos"/>
              </a:defRPr>
            </a:pPr>
            <a:r>
              <a:rPr>
                <a:solidFill>
                  <a:srgbClr val="222D38"/>
                </a:solidFill>
              </a:rPr>
              <a:t>•  source and format</a:t>
            </a:r>
          </a:p>
          <a:p>
            <a:pPr>
              <a:buNone/>
              <a:spcAft>
                <a:spcPts val="1000"/>
              </a:spcAft>
              <a:defRPr sz="1600">
                <a:solidFill>
                  <a:srgbClr val="222D38"/>
                </a:solidFill>
                <a:latin typeface="Aptos"/>
              </a:defRPr>
            </a:pPr>
            <a:r>
              <a:rPr>
                <a:solidFill>
                  <a:srgbClr val="222D38"/>
                </a:solidFill>
              </a:rPr>
              <a:t>•  channel and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578608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ptos"/>
              </a:rPr>
              <a:t>Decision criteria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3127248"/>
            <a:ext cx="4480560" cy="2057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buNone/>
              <a:spcAft>
                <a:spcPts val="10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rPr>
                <a:solidFill>
                  <a:srgbClr val="FFFFFF"/>
                </a:solidFill>
              </a:rPr>
              <a:t>•  customer value</a:t>
            </a:r>
          </a:p>
          <a:p>
            <a:pPr>
              <a:buNone/>
              <a:spcAft>
                <a:spcPts val="10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rPr>
                <a:solidFill>
                  <a:srgbClr val="FFFFFF"/>
                </a:solidFill>
              </a:rPr>
              <a:t>•  reuse potential</a:t>
            </a:r>
          </a:p>
          <a:p>
            <a:pPr>
              <a:buNone/>
              <a:spcAft>
                <a:spcPts val="10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rPr>
                <a:solidFill>
                  <a:srgbClr val="FFFFFF"/>
                </a:solidFill>
              </a:rPr>
              <a:t>•  risk and dependency</a:t>
            </a:r>
          </a:p>
          <a:p>
            <a:pPr>
              <a:buNone/>
              <a:spcAft>
                <a:spcPts val="10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rPr>
                <a:solidFill>
                  <a:srgbClr val="FFFFFF"/>
                </a:solidFill>
              </a:rPr>
              <a:t>•  effort and sequencing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4652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687B8E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B"/>
          </a:solidFill>
          <a:ln>
            <a:solidFill>
              <a:srgbClr val="F6F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F6836"/>
                </a:solidFill>
                <a:latin typeface="Aptos"/>
              </a:rPr>
              <a:t>STEP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85800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22D38"/>
                </a:solidFill>
                <a:latin typeface="Aptos"/>
              </a:rPr>
              <a:t>Launch and follow-up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1732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CF6836"/>
                </a:solidFill>
                <a:latin typeface="Aptos"/>
              </a:rPr>
              <a:t>The team begins learning once customers can use the content.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67712"/>
            <a:ext cx="521208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E0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63640" y="2267712"/>
            <a:ext cx="5212080" cy="3246120"/>
          </a:xfrm>
          <a:prstGeom prst="roundRect">
            <a:avLst/>
          </a:prstGeom>
          <a:solidFill>
            <a:srgbClr val="142537"/>
          </a:solidFill>
          <a:ln>
            <a:solidFill>
              <a:srgbClr val="142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578608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222D38"/>
                </a:solidFill>
                <a:latin typeface="Aptos"/>
              </a:rPr>
              <a:t>At launch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127248"/>
            <a:ext cx="4480560" cy="2057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buNone/>
              <a:spcAft>
                <a:spcPts val="1000"/>
              </a:spcAft>
              <a:defRPr sz="1600">
                <a:solidFill>
                  <a:srgbClr val="222D38"/>
                </a:solidFill>
                <a:latin typeface="Aptos"/>
              </a:defRPr>
            </a:pPr>
            <a:r>
              <a:rPr>
                <a:solidFill>
                  <a:srgbClr val="222D38"/>
                </a:solidFill>
              </a:rPr>
              <a:t>•  confirm ownership</a:t>
            </a:r>
          </a:p>
          <a:p>
            <a:pPr>
              <a:buNone/>
              <a:spcAft>
                <a:spcPts val="1000"/>
              </a:spcAft>
              <a:defRPr sz="1600">
                <a:solidFill>
                  <a:srgbClr val="222D38"/>
                </a:solidFill>
                <a:latin typeface="Aptos"/>
              </a:defRPr>
            </a:pPr>
            <a:r>
              <a:rPr>
                <a:solidFill>
                  <a:srgbClr val="222D38"/>
                </a:solidFill>
              </a:rPr>
              <a:t>•  validate links and metadata</a:t>
            </a:r>
          </a:p>
          <a:p>
            <a:pPr>
              <a:buNone/>
              <a:spcAft>
                <a:spcPts val="1000"/>
              </a:spcAft>
              <a:defRPr sz="1600">
                <a:solidFill>
                  <a:srgbClr val="222D38"/>
                </a:solidFill>
                <a:latin typeface="Aptos"/>
              </a:defRPr>
            </a:pPr>
            <a:r>
              <a:rPr>
                <a:solidFill>
                  <a:srgbClr val="222D38"/>
                </a:solidFill>
              </a:rPr>
              <a:t>•  connect analytics</a:t>
            </a:r>
          </a:p>
          <a:p>
            <a:pPr>
              <a:buNone/>
              <a:spcAft>
                <a:spcPts val="1000"/>
              </a:spcAft>
              <a:defRPr sz="1600">
                <a:solidFill>
                  <a:srgbClr val="222D38"/>
                </a:solidFill>
                <a:latin typeface="Aptos"/>
              </a:defRPr>
            </a:pPr>
            <a:r>
              <a:rPr>
                <a:solidFill>
                  <a:srgbClr val="222D38"/>
                </a:solidFill>
              </a:rPr>
              <a:t>•  document source and version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578608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ptos"/>
              </a:rPr>
              <a:t>After launch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3127248"/>
            <a:ext cx="4480560" cy="2057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buNone/>
              <a:spcAft>
                <a:spcPts val="10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rPr>
                <a:solidFill>
                  <a:srgbClr val="FFFFFF"/>
                </a:solidFill>
              </a:rPr>
              <a:t>•  review performance</a:t>
            </a:r>
          </a:p>
          <a:p>
            <a:pPr>
              <a:buNone/>
              <a:spcAft>
                <a:spcPts val="10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rPr>
                <a:solidFill>
                  <a:srgbClr val="FFFFFF"/>
                </a:solidFill>
              </a:rPr>
              <a:t>•  retire or revise weak content</a:t>
            </a:r>
          </a:p>
          <a:p>
            <a:pPr>
              <a:buNone/>
              <a:spcAft>
                <a:spcPts val="10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rPr>
                <a:solidFill>
                  <a:srgbClr val="FFFFFF"/>
                </a:solidFill>
              </a:rPr>
              <a:t>•  capture feedback</a:t>
            </a:r>
          </a:p>
          <a:p>
            <a:pPr>
              <a:buNone/>
              <a:spcAft>
                <a:spcPts val="10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rPr>
                <a:solidFill>
                  <a:srgbClr val="FFFFFF"/>
                </a:solidFill>
              </a:rPr>
              <a:t>•  feed learning into the next cycle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4652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687B8E"/>
                </a:solidFill>
                <a:latin typeface="Apto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826"/>
          </a:solidFill>
          <a:ln>
            <a:solidFill>
              <a:srgbClr val="0C18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F6836"/>
                </a:solidFill>
                <a:latin typeface="Aptos"/>
              </a:rPr>
              <a:t>CASE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85800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ptos"/>
              </a:rPr>
              <a:t>We tested the approach on a product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572768"/>
            <a:ext cx="2011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CF6836"/>
                </a:solidFill>
                <a:latin typeface="Aptos"/>
              </a:rPr>
              <a:t>The setting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029968"/>
            <a:ext cx="475488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ptos"/>
              </a:rPr>
              <a:t>A complex product environment where technical publications, training, rich media, marketing, service, and field teams created content independently.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89320" y="1444752"/>
            <a:ext cx="5349240" cy="4251960"/>
          </a:xfrm>
          <a:prstGeom prst="roundRect">
            <a:avLst/>
          </a:prstGeom>
          <a:solidFill>
            <a:srgbClr val="142537"/>
          </a:solidFill>
          <a:ln>
            <a:solidFill>
              <a:srgbClr val="142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810512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Aptos"/>
              </a:rPr>
              <a:t>Pilot objectives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468880"/>
            <a:ext cx="4389120" cy="2468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buNone/>
              <a:spcAft>
                <a:spcPts val="14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rPr>
                <a:solidFill>
                  <a:srgbClr val="FFFFFF"/>
                </a:solidFill>
              </a:rPr>
              <a:t>•  find overlap in content and effort</a:t>
            </a:r>
          </a:p>
          <a:p>
            <a:pPr>
              <a:buNone/>
              <a:spcAft>
                <a:spcPts val="14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rPr>
                <a:solidFill>
                  <a:srgbClr val="FFFFFF"/>
                </a:solidFill>
              </a:rPr>
              <a:t>•  agree on requirements for a new product</a:t>
            </a:r>
          </a:p>
          <a:p>
            <a:pPr>
              <a:buNone/>
              <a:spcAft>
                <a:spcPts val="14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rPr>
                <a:solidFill>
                  <a:srgbClr val="FFFFFF"/>
                </a:solidFill>
              </a:rPr>
              <a:t>•  assign work by expertise</a:t>
            </a:r>
          </a:p>
          <a:p>
            <a:pPr>
              <a:buNone/>
              <a:spcAft>
                <a:spcPts val="14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rPr>
                <a:solidFill>
                  <a:srgbClr val="FFFFFF"/>
                </a:solidFill>
              </a:rPr>
              <a:t>•  test a process that later launches could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4652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687B8E"/>
                </a:solidFill>
                <a:latin typeface="Apto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B"/>
          </a:solidFill>
          <a:ln>
            <a:solidFill>
              <a:srgbClr val="F6F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F6836"/>
                </a:solidFill>
                <a:latin typeface="Aptos"/>
              </a:rPr>
              <a:t>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85800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22D38"/>
                </a:solidFill>
                <a:latin typeface="Aptos"/>
              </a:rPr>
              <a:t>The audit exposed a 30% reuse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72768"/>
            <a:ext cx="29260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500" b="1" i="0">
                <a:solidFill>
                  <a:srgbClr val="CF6836"/>
                </a:solidFill>
                <a:latin typeface="Aptos"/>
              </a:rPr>
              <a:t>30%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43200"/>
            <a:ext cx="34290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222D38"/>
                </a:solidFill>
                <a:latin typeface="Aptos"/>
              </a:rPr>
              <a:t>of reviewed content overlapped across teams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691640"/>
            <a:ext cx="6217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222D38"/>
                </a:solidFill>
                <a:latin typeface="Aptos"/>
              </a:rPr>
              <a:t>The team compared source material, finished content, and planned deliverables across functions.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743200"/>
            <a:ext cx="585216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buNone/>
              <a:spcAft>
                <a:spcPts val="1300"/>
              </a:spcAft>
              <a:defRPr sz="1800">
                <a:solidFill>
                  <a:srgbClr val="222D38"/>
                </a:solidFill>
                <a:latin typeface="Aptos"/>
              </a:defRPr>
            </a:pPr>
            <a:r>
              <a:rPr>
                <a:solidFill>
                  <a:srgbClr val="222D38"/>
                </a:solidFill>
              </a:rPr>
              <a:t>•  Teams found material they could reuse right away.</a:t>
            </a:r>
          </a:p>
          <a:p>
            <a:pPr>
              <a:buNone/>
              <a:spcAft>
                <a:spcPts val="1300"/>
              </a:spcAft>
              <a:defRPr sz="1800">
                <a:solidFill>
                  <a:srgbClr val="222D38"/>
                </a:solidFill>
                <a:latin typeface="Aptos"/>
              </a:defRPr>
            </a:pPr>
            <a:r>
              <a:rPr>
                <a:solidFill>
                  <a:srgbClr val="222D38"/>
                </a:solidFill>
              </a:rPr>
              <a:t>•  Missing content surfaced earlier in the lifecycle.</a:t>
            </a:r>
          </a:p>
          <a:p>
            <a:pPr>
              <a:buNone/>
              <a:spcAft>
                <a:spcPts val="1300"/>
              </a:spcAft>
              <a:defRPr sz="1800">
                <a:solidFill>
                  <a:srgbClr val="222D38"/>
                </a:solidFill>
                <a:latin typeface="Aptos"/>
              </a:defRPr>
            </a:pPr>
            <a:r>
              <a:rPr>
                <a:solidFill>
                  <a:srgbClr val="222D38"/>
                </a:solidFill>
              </a:rPr>
              <a:t>•  The audit gave teams a practical way to divide the work.</a:t>
            </a:r>
          </a:p>
          <a:p>
            <a:pPr>
              <a:buNone/>
              <a:spcAft>
                <a:spcPts val="1300"/>
              </a:spcAft>
              <a:defRPr sz="1800">
                <a:solidFill>
                  <a:srgbClr val="222D38"/>
                </a:solidFill>
                <a:latin typeface="Aptos"/>
              </a:defRPr>
            </a:pPr>
            <a:r>
              <a:rPr>
                <a:solidFill>
                  <a:srgbClr val="222D38"/>
                </a:solidFill>
              </a:rPr>
              <a:t>•  The same method could be used on later launches.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5349240"/>
            <a:ext cx="106070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CF6836"/>
                </a:solidFill>
                <a:latin typeface="Aptos"/>
              </a:rPr>
              <a:t>The audit moved the discussion from document ownership to responsibility for the source information.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4652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687B8E"/>
                </a:solidFill>
                <a:latin typeface="Apto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826"/>
          </a:solidFill>
          <a:ln>
            <a:solidFill>
              <a:srgbClr val="0C18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F6836"/>
                </a:solidFill>
                <a:latin typeface="Aptos"/>
              </a:rPr>
              <a:t>PEOPLE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85800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ptos"/>
              </a:rPr>
              <a:t>The stakeholder map showed who had to be involved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" y="1572768"/>
            <a:ext cx="2514600" cy="4206240"/>
          </a:xfrm>
          <a:prstGeom prst="roundRect">
            <a:avLst/>
          </a:prstGeom>
          <a:solidFill>
            <a:srgbClr val="142537"/>
          </a:solidFill>
          <a:ln>
            <a:solidFill>
              <a:srgbClr val="CF68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2057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ptos"/>
              </a:rPr>
              <a:t>Business direction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834640"/>
            <a:ext cx="2057400" cy="20116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buNone/>
              <a:spcAft>
                <a:spcPts val="1200"/>
              </a:spcAft>
              <a:defRPr sz="1500">
                <a:solidFill>
                  <a:srgbClr val="CEDAE3"/>
                </a:solidFill>
                <a:latin typeface="Aptos"/>
              </a:defRPr>
            </a:pPr>
            <a:r>
              <a:rPr>
                <a:solidFill>
                  <a:srgbClr val="CEDAE3"/>
                </a:solidFill>
              </a:rPr>
              <a:t>•  Product management</a:t>
            </a:r>
          </a:p>
          <a:p>
            <a:pPr>
              <a:buNone/>
              <a:spcAft>
                <a:spcPts val="1200"/>
              </a:spcAft>
              <a:defRPr sz="1500">
                <a:solidFill>
                  <a:srgbClr val="CEDAE3"/>
                </a:solidFill>
                <a:latin typeface="Aptos"/>
              </a:defRPr>
            </a:pPr>
            <a:r>
              <a:rPr>
                <a:solidFill>
                  <a:srgbClr val="CEDAE3"/>
                </a:solidFill>
              </a:rPr>
              <a:t>•  Product marketing</a:t>
            </a:r>
          </a:p>
          <a:p>
            <a:pPr>
              <a:buNone/>
              <a:spcAft>
                <a:spcPts val="1200"/>
              </a:spcAft>
              <a:defRPr sz="1500">
                <a:solidFill>
                  <a:srgbClr val="CEDAE3"/>
                </a:solidFill>
                <a:latin typeface="Aptos"/>
              </a:defRPr>
            </a:pPr>
            <a:r>
              <a:rPr>
                <a:solidFill>
                  <a:srgbClr val="CEDAE3"/>
                </a:solidFill>
              </a:rPr>
              <a:t>•  Subject-matter experts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93008" y="1572768"/>
            <a:ext cx="2514600" cy="4206240"/>
          </a:xfrm>
          <a:prstGeom prst="roundRect">
            <a:avLst/>
          </a:prstGeom>
          <a:solidFill>
            <a:srgbClr val="142537"/>
          </a:solidFill>
          <a:ln>
            <a:solidFill>
              <a:srgbClr val="7BC5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21608" y="1874519"/>
            <a:ext cx="2057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ptos"/>
              </a:rPr>
              <a:t>Content creation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21608" y="2834640"/>
            <a:ext cx="2057400" cy="20116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buNone/>
              <a:spcAft>
                <a:spcPts val="1200"/>
              </a:spcAft>
              <a:defRPr sz="1500">
                <a:solidFill>
                  <a:srgbClr val="CEDAE3"/>
                </a:solidFill>
                <a:latin typeface="Aptos"/>
              </a:defRPr>
            </a:pPr>
            <a:r>
              <a:rPr>
                <a:solidFill>
                  <a:srgbClr val="CEDAE3"/>
                </a:solidFill>
              </a:rPr>
              <a:t>•  Technical publications</a:t>
            </a:r>
          </a:p>
          <a:p>
            <a:pPr>
              <a:buNone/>
              <a:spcAft>
                <a:spcPts val="1200"/>
              </a:spcAft>
              <a:defRPr sz="1500">
                <a:solidFill>
                  <a:srgbClr val="CEDAE3"/>
                </a:solidFill>
                <a:latin typeface="Aptos"/>
              </a:defRPr>
            </a:pPr>
            <a:r>
              <a:rPr>
                <a:solidFill>
                  <a:srgbClr val="CEDAE3"/>
                </a:solidFill>
              </a:rPr>
              <a:t>•  Customer education</a:t>
            </a:r>
          </a:p>
          <a:p>
            <a:pPr>
              <a:buNone/>
              <a:spcAft>
                <a:spcPts val="1200"/>
              </a:spcAft>
              <a:defRPr sz="1500">
                <a:solidFill>
                  <a:srgbClr val="CEDAE3"/>
                </a:solidFill>
                <a:latin typeface="Aptos"/>
              </a:defRPr>
            </a:pPr>
            <a:r>
              <a:rPr>
                <a:solidFill>
                  <a:srgbClr val="CEDAE3"/>
                </a:solidFill>
              </a:rPr>
              <a:t>•  Instructional design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73368" y="1572768"/>
            <a:ext cx="2514600" cy="4206240"/>
          </a:xfrm>
          <a:prstGeom prst="roundRect">
            <a:avLst/>
          </a:prstGeom>
          <a:solidFill>
            <a:srgbClr val="142537"/>
          </a:solidFill>
          <a:ln>
            <a:solidFill>
              <a:srgbClr val="E4AE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01968" y="1874519"/>
            <a:ext cx="2057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ptos"/>
              </a:rPr>
              <a:t>Experience delivery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1968" y="2834640"/>
            <a:ext cx="2057400" cy="20116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buNone/>
              <a:spcAft>
                <a:spcPts val="1200"/>
              </a:spcAft>
              <a:defRPr sz="1500">
                <a:solidFill>
                  <a:srgbClr val="CEDAE3"/>
                </a:solidFill>
                <a:latin typeface="Aptos"/>
              </a:defRPr>
            </a:pPr>
            <a:r>
              <a:rPr>
                <a:solidFill>
                  <a:srgbClr val="CEDAE3"/>
                </a:solidFill>
              </a:rPr>
              <a:t>•  Customer support</a:t>
            </a:r>
          </a:p>
          <a:p>
            <a:pPr>
              <a:buNone/>
              <a:spcAft>
                <a:spcPts val="1200"/>
              </a:spcAft>
              <a:defRPr sz="1500">
                <a:solidFill>
                  <a:srgbClr val="CEDAE3"/>
                </a:solidFill>
                <a:latin typeface="Aptos"/>
              </a:defRPr>
            </a:pPr>
            <a:r>
              <a:rPr>
                <a:solidFill>
                  <a:srgbClr val="CEDAE3"/>
                </a:solidFill>
              </a:rPr>
              <a:t>•  Field service</a:t>
            </a:r>
          </a:p>
          <a:p>
            <a:pPr>
              <a:buNone/>
              <a:spcAft>
                <a:spcPts val="1200"/>
              </a:spcAft>
              <a:defRPr sz="1500">
                <a:solidFill>
                  <a:srgbClr val="CEDAE3"/>
                </a:solidFill>
                <a:latin typeface="Aptos"/>
              </a:defRPr>
            </a:pPr>
            <a:r>
              <a:rPr>
                <a:solidFill>
                  <a:srgbClr val="CEDAE3"/>
                </a:solidFill>
              </a:rPr>
              <a:t>•  Sales enablement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53728" y="1572768"/>
            <a:ext cx="2514600" cy="4206240"/>
          </a:xfrm>
          <a:prstGeom prst="roundRect">
            <a:avLst/>
          </a:prstGeom>
          <a:solidFill>
            <a:srgbClr val="142537"/>
          </a:solidFill>
          <a:ln>
            <a:solidFill>
              <a:srgbClr val="687B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82328" y="1874519"/>
            <a:ext cx="2057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ptos"/>
              </a:rPr>
              <a:t>Platform and assets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82328" y="2834640"/>
            <a:ext cx="2057400" cy="20116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buNone/>
              <a:spcAft>
                <a:spcPts val="1200"/>
              </a:spcAft>
              <a:defRPr sz="1500">
                <a:solidFill>
                  <a:srgbClr val="CEDAE3"/>
                </a:solidFill>
                <a:latin typeface="Aptos"/>
              </a:defRPr>
            </a:pPr>
            <a:r>
              <a:rPr>
                <a:solidFill>
                  <a:srgbClr val="CEDAE3"/>
                </a:solidFill>
              </a:rPr>
              <a:t>•  IT and CMS</a:t>
            </a:r>
          </a:p>
          <a:p>
            <a:pPr>
              <a:buNone/>
              <a:spcAft>
                <a:spcPts val="1200"/>
              </a:spcAft>
              <a:defRPr sz="1500">
                <a:solidFill>
                  <a:srgbClr val="CEDAE3"/>
                </a:solidFill>
                <a:latin typeface="Aptos"/>
              </a:defRPr>
            </a:pPr>
            <a:r>
              <a:rPr>
                <a:solidFill>
                  <a:srgbClr val="CEDAE3"/>
                </a:solidFill>
              </a:rPr>
              <a:t>•  CAD and mechanical</a:t>
            </a:r>
          </a:p>
          <a:p>
            <a:pPr>
              <a:buNone/>
              <a:spcAft>
                <a:spcPts val="1200"/>
              </a:spcAft>
              <a:defRPr sz="1500">
                <a:solidFill>
                  <a:srgbClr val="CEDAE3"/>
                </a:solidFill>
                <a:latin typeface="Aptos"/>
              </a:defRPr>
            </a:pPr>
            <a:r>
              <a:rPr>
                <a:solidFill>
                  <a:srgbClr val="CEDAE3"/>
                </a:solidFill>
              </a:rPr>
              <a:t>•  Rich media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92840" y="644652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687B8E"/>
                </a:solidFill>
                <a:latin typeface="Apto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B"/>
          </a:solidFill>
          <a:ln>
            <a:solidFill>
              <a:srgbClr val="F6F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F6836"/>
                </a:solidFill>
                <a:latin typeface="Aptos"/>
              </a:rPr>
              <a:t>COLLABORATION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85800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22D38"/>
                </a:solidFill>
                <a:latin typeface="Aptos"/>
              </a:rPr>
              <a:t>A simple process replaced informal handoffs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28800"/>
            <a:ext cx="2029968" cy="3200400"/>
          </a:xfrm>
          <a:prstGeom prst="roundRect">
            <a:avLst/>
          </a:prstGeom>
          <a:solidFill>
            <a:srgbClr val="FFFFFF"/>
          </a:solidFill>
          <a:ln>
            <a:solidFill>
              <a:srgbClr val="DB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029968"/>
            <a:ext cx="365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F6836"/>
                </a:solidFill>
                <a:latin typeface="Apto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42032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222D38"/>
                </a:solidFill>
                <a:latin typeface="Aptos"/>
              </a:rPr>
              <a:t>Align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182112"/>
            <a:ext cx="16459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F5E6C"/>
                </a:solidFill>
                <a:latin typeface="Aptos"/>
              </a:rPr>
              <a:t>Common kickoff and agreed requirements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1828800"/>
            <a:ext cx="2029968" cy="3200400"/>
          </a:xfrm>
          <a:prstGeom prst="roundRect">
            <a:avLst/>
          </a:prstGeom>
          <a:solidFill>
            <a:srgbClr val="FFFFFF"/>
          </a:solidFill>
          <a:ln>
            <a:solidFill>
              <a:srgbClr val="DB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2029968"/>
            <a:ext cx="365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F6836"/>
                </a:solidFill>
                <a:latin typeface="Apto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542032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222D38"/>
                </a:solidFill>
                <a:latin typeface="Aptos"/>
              </a:rPr>
              <a:t>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3182112"/>
            <a:ext cx="16459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F5E6C"/>
                </a:solidFill>
                <a:latin typeface="Aptos"/>
              </a:rPr>
              <a:t>Identify source materials and owners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4920" y="1828800"/>
            <a:ext cx="2029968" cy="3200400"/>
          </a:xfrm>
          <a:prstGeom prst="roundRect">
            <a:avLst/>
          </a:prstGeom>
          <a:solidFill>
            <a:srgbClr val="FFFFFF"/>
          </a:solidFill>
          <a:ln>
            <a:solidFill>
              <a:srgbClr val="DB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7800" y="2029968"/>
            <a:ext cx="365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F6836"/>
                </a:solidFill>
                <a:latin typeface="Apto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2542032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222D38"/>
                </a:solidFill>
                <a:latin typeface="Aptos"/>
              </a:rPr>
              <a:t>Create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3182112"/>
            <a:ext cx="16459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F5E6C"/>
                </a:solidFill>
                <a:latin typeface="Aptos"/>
              </a:rPr>
              <a:t>Assign work by expertise and reuse potential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1828800"/>
            <a:ext cx="2029968" cy="3200400"/>
          </a:xfrm>
          <a:prstGeom prst="roundRect">
            <a:avLst/>
          </a:prstGeom>
          <a:solidFill>
            <a:srgbClr val="FFFFFF"/>
          </a:solidFill>
          <a:ln>
            <a:solidFill>
              <a:srgbClr val="DB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19" y="2029968"/>
            <a:ext cx="365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F6836"/>
                </a:solidFill>
                <a:latin typeface="Apto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19" y="2542032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222D38"/>
                </a:solidFill>
                <a:latin typeface="Aptos"/>
              </a:rPr>
              <a:t>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19" y="3182112"/>
            <a:ext cx="16459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F5E6C"/>
                </a:solidFill>
                <a:latin typeface="Aptos"/>
              </a:rPr>
              <a:t>Coordinate review across affected teams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38359" y="1828800"/>
            <a:ext cx="2029968" cy="3200400"/>
          </a:xfrm>
          <a:prstGeom prst="roundRect">
            <a:avLst/>
          </a:prstGeom>
          <a:solidFill>
            <a:srgbClr val="FFFFFF"/>
          </a:solidFill>
          <a:ln>
            <a:solidFill>
              <a:srgbClr val="DB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21239" y="2029968"/>
            <a:ext cx="365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F6836"/>
                </a:solidFill>
                <a:latin typeface="Aptos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542032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222D38"/>
                </a:solidFill>
                <a:latin typeface="Aptos"/>
              </a:rPr>
              <a:t>Learn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21239" y="3182112"/>
            <a:ext cx="16459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F5E6C"/>
                </a:solidFill>
                <a:latin typeface="Aptos"/>
              </a:rPr>
              <a:t>Track results and improve the next release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5513832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222D38"/>
                </a:solidFill>
                <a:latin typeface="Aptos"/>
              </a:rPr>
              <a:t>Weekly meetings kept dependencies visible. Executive sponsors settled ownership and tool decisions when the teams reached an impasse.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92840" y="644652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687B8E"/>
                </a:solidFill>
                <a:latin typeface="Apto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826"/>
          </a:solidFill>
          <a:ln>
            <a:solidFill>
              <a:srgbClr val="0C18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F6836"/>
                </a:solidFill>
                <a:latin typeface="Aptos"/>
              </a:rPr>
              <a:t>REUSE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85800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ptos"/>
              </a:rPr>
              <a:t>One approved topic can support many formats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258568"/>
            <a:ext cx="2057400" cy="960120"/>
          </a:xfrm>
          <a:prstGeom prst="roundRect">
            <a:avLst/>
          </a:prstGeom>
          <a:solidFill>
            <a:srgbClr val="CF6836"/>
          </a:solidFill>
          <a:ln>
            <a:solidFill>
              <a:srgbClr val="CF68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395728"/>
            <a:ext cx="16916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1" i="0">
                <a:solidFill>
                  <a:srgbClr val="0C1826"/>
                </a:solidFill>
                <a:latin typeface="Aptos"/>
              </a:rPr>
              <a:t>Approved
source topic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1508760"/>
            <a:ext cx="1965960" cy="777240"/>
          </a:xfrm>
          <a:prstGeom prst="roundRect">
            <a:avLst/>
          </a:prstGeom>
          <a:solidFill>
            <a:srgbClr val="142537"/>
          </a:solidFill>
          <a:ln>
            <a:solidFill>
              <a:srgbClr val="7BC5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67328" y="1664207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ptos"/>
              </a:rPr>
              <a:t>User manual</a:t>
            </a:r>
          </a:p>
        </p:txBody>
      </p:sp>
      <p:sp>
        <p:nvSpPr>
          <p:cNvPr id="9" name="Rectangle 8"/>
          <p:cNvSpPr/>
          <p:nvPr/>
        </p:nvSpPr>
        <p:spPr>
          <a:xfrm>
            <a:off x="2834640" y="2743200"/>
            <a:ext cx="320040" cy="36576"/>
          </a:xfrm>
          <a:prstGeom prst="rect">
            <a:avLst/>
          </a:prstGeom>
          <a:solidFill>
            <a:srgbClr val="687B8E"/>
          </a:solidFill>
          <a:ln>
            <a:solidFill>
              <a:srgbClr val="687B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0" y="1508760"/>
            <a:ext cx="1965960" cy="777240"/>
          </a:xfrm>
          <a:prstGeom prst="roundRect">
            <a:avLst/>
          </a:prstGeom>
          <a:solidFill>
            <a:srgbClr val="142537"/>
          </a:solidFill>
          <a:ln>
            <a:solidFill>
              <a:srgbClr val="7BC5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664207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ptos"/>
              </a:rPr>
              <a:t>Tutorial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60" y="2743200"/>
            <a:ext cx="320040" cy="36576"/>
          </a:xfrm>
          <a:prstGeom prst="rect">
            <a:avLst/>
          </a:prstGeom>
          <a:solidFill>
            <a:srgbClr val="687B8E"/>
          </a:solidFill>
          <a:ln>
            <a:solidFill>
              <a:srgbClr val="687B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98280" y="1508760"/>
            <a:ext cx="1965960" cy="777240"/>
          </a:xfrm>
          <a:prstGeom prst="roundRect">
            <a:avLst/>
          </a:prstGeom>
          <a:solidFill>
            <a:srgbClr val="142537"/>
          </a:solidFill>
          <a:ln>
            <a:solidFill>
              <a:srgbClr val="7BC5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8007" y="1664207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ptos"/>
              </a:rPr>
              <a:t>Pre-sales training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40" y="2743200"/>
            <a:ext cx="320040" cy="36576"/>
          </a:xfrm>
          <a:prstGeom prst="rect">
            <a:avLst/>
          </a:prstGeom>
          <a:solidFill>
            <a:srgbClr val="687B8E"/>
          </a:solidFill>
          <a:ln>
            <a:solidFill>
              <a:srgbClr val="687B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0" y="4160520"/>
            <a:ext cx="1965960" cy="777240"/>
          </a:xfrm>
          <a:prstGeom prst="roundRect">
            <a:avLst/>
          </a:prstGeom>
          <a:solidFill>
            <a:srgbClr val="142537"/>
          </a:solidFill>
          <a:ln>
            <a:solidFill>
              <a:srgbClr val="7BC5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67328" y="4315968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ptos"/>
              </a:rPr>
              <a:t>eLearning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34640" y="3429000"/>
            <a:ext cx="320040" cy="36576"/>
          </a:xfrm>
          <a:prstGeom prst="rect">
            <a:avLst/>
          </a:prstGeom>
          <a:solidFill>
            <a:srgbClr val="687B8E"/>
          </a:solidFill>
          <a:ln>
            <a:solidFill>
              <a:srgbClr val="687B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0" y="4160520"/>
            <a:ext cx="1965960" cy="777240"/>
          </a:xfrm>
          <a:prstGeom prst="roundRect">
            <a:avLst/>
          </a:prstGeom>
          <a:solidFill>
            <a:srgbClr val="142537"/>
          </a:solidFill>
          <a:ln>
            <a:solidFill>
              <a:srgbClr val="7BC5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4315968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ptos"/>
              </a:rPr>
              <a:t>Field training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80760" y="3429000"/>
            <a:ext cx="320040" cy="36576"/>
          </a:xfrm>
          <a:prstGeom prst="rect">
            <a:avLst/>
          </a:prstGeom>
          <a:solidFill>
            <a:srgbClr val="687B8E"/>
          </a:solidFill>
          <a:ln>
            <a:solidFill>
              <a:srgbClr val="687B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98280" y="4160520"/>
            <a:ext cx="1965960" cy="777240"/>
          </a:xfrm>
          <a:prstGeom prst="roundRect">
            <a:avLst/>
          </a:prstGeom>
          <a:solidFill>
            <a:srgbClr val="142537"/>
          </a:solidFill>
          <a:ln>
            <a:solidFill>
              <a:srgbClr val="7BC5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08007" y="4315968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ptos"/>
              </a:rPr>
              <a:t>Interactive manual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78240" y="3429000"/>
            <a:ext cx="320040" cy="36576"/>
          </a:xfrm>
          <a:prstGeom prst="rect">
            <a:avLst/>
          </a:prstGeom>
          <a:solidFill>
            <a:srgbClr val="687B8E"/>
          </a:solidFill>
          <a:ln>
            <a:solidFill>
              <a:srgbClr val="687B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66160" y="2880360"/>
            <a:ext cx="7223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CAD7E0"/>
                </a:solidFill>
                <a:latin typeface="Aptos"/>
              </a:rPr>
              <a:t>Reuse works when the source can be updated in pieces and adapted without rewriting the facts.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92840" y="644652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687B8E"/>
                </a:solidFill>
                <a:latin typeface="Apto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B"/>
          </a:solidFill>
          <a:ln>
            <a:solidFill>
              <a:srgbClr val="F6F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F6836"/>
                </a:solidFill>
                <a:latin typeface="Aptos"/>
              </a:rPr>
              <a:t>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85800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22D38"/>
                </a:solidFill>
                <a:latin typeface="Aptos"/>
              </a:rPr>
              <a:t>What changed after the 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373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F6836"/>
                </a:solidFill>
                <a:latin typeface="Apto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171907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222D38"/>
                </a:solidFill>
                <a:latin typeface="Aptos"/>
              </a:rPr>
              <a:t>Clarity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8448" y="2267712"/>
            <a:ext cx="4343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4C5B69"/>
                </a:solidFill>
                <a:latin typeface="Aptos"/>
              </a:rPr>
              <a:t>Teams could see overlap, gaps, and dependencies.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6207" y="17373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F6836"/>
                </a:solidFill>
                <a:latin typeface="Aptos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76288" y="171907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222D38"/>
                </a:solidFill>
                <a:latin typeface="Aptos"/>
              </a:rPr>
              <a:t>Capacity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76288" y="2267712"/>
            <a:ext cx="4343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4C5B69"/>
                </a:solidFill>
                <a:latin typeface="Aptos"/>
              </a:rPr>
              <a:t>Work moved to the teams best equipped to create and maintain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7947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F6836"/>
                </a:solidFill>
                <a:latin typeface="Aptos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77647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222D38"/>
                </a:solidFill>
                <a:latin typeface="Aptos"/>
              </a:rPr>
              <a:t>Repeatability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4325112"/>
            <a:ext cx="4343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4C5B69"/>
                </a:solidFill>
                <a:latin typeface="Aptos"/>
              </a:rPr>
              <a:t>The audit and planning method could be used on later launches.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7" y="37947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F6836"/>
                </a:solidFill>
                <a:latin typeface="Aptos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377647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222D38"/>
                </a:solidFill>
                <a:latin typeface="Aptos"/>
              </a:rPr>
              <a:t>Platform case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76288" y="4325112"/>
            <a:ext cx="4343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4C5B69"/>
                </a:solidFill>
                <a:latin typeface="Aptos"/>
              </a:rPr>
              <a:t>The findings supported a broader CMS and collaboration initiative.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715000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CF6836"/>
                </a:solidFill>
                <a:latin typeface="Aptos"/>
              </a:rPr>
              <a:t>The pilot gave teams a repeatable way to make decisions together.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44652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687B8E"/>
                </a:solidFill>
                <a:latin typeface="Apto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826"/>
          </a:solidFill>
          <a:ln>
            <a:solidFill>
              <a:srgbClr val="0C18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F6836"/>
                </a:solidFill>
                <a:latin typeface="Aptos"/>
              </a:rPr>
              <a:t>WHAT WE LEARNED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85800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ptos"/>
              </a:rPr>
              <a:t>Four lessons from the pilot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36192"/>
            <a:ext cx="5166360" cy="1719072"/>
          </a:xfrm>
          <a:prstGeom prst="roundRect">
            <a:avLst/>
          </a:prstGeom>
          <a:solidFill>
            <a:srgbClr val="142537"/>
          </a:solidFill>
          <a:ln>
            <a:solidFill>
              <a:srgbClr val="CF68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792224"/>
            <a:ext cx="46177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ptos"/>
              </a:rPr>
              <a:t>Ownership affects adoption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22576"/>
            <a:ext cx="4617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C6D4DE"/>
                </a:solidFill>
                <a:latin typeface="Aptos"/>
              </a:rPr>
              <a:t>People respond to changes in tools, control, and recognition.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536192"/>
            <a:ext cx="5166360" cy="1719072"/>
          </a:xfrm>
          <a:prstGeom prst="roundRect">
            <a:avLst/>
          </a:prstGeom>
          <a:solidFill>
            <a:srgbClr val="142537"/>
          </a:solidFill>
          <a:ln>
            <a:solidFill>
              <a:srgbClr val="7BC5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792224"/>
            <a:ext cx="46177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ptos"/>
              </a:rPr>
              <a:t>Make the process easy to 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9672" y="2322576"/>
            <a:ext cx="4617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C6D4DE"/>
                </a:solidFill>
                <a:latin typeface="Aptos"/>
              </a:rPr>
              <a:t>Occasional contributors need clear templates and support.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685032"/>
            <a:ext cx="5166360" cy="1719072"/>
          </a:xfrm>
          <a:prstGeom prst="roundRect">
            <a:avLst/>
          </a:prstGeom>
          <a:solidFill>
            <a:srgbClr val="142537"/>
          </a:solidFill>
          <a:ln>
            <a:solidFill>
              <a:srgbClr val="E4AE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3941064"/>
            <a:ext cx="46177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ptos"/>
              </a:rPr>
              <a:t>Sponsors remove roadblocks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4471416"/>
            <a:ext cx="4617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C6D4DE"/>
                </a:solidFill>
                <a:latin typeface="Aptos"/>
              </a:rPr>
              <a:t>Some cross-team decisions need a leader to settle them.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685032"/>
            <a:ext cx="5166360" cy="1719072"/>
          </a:xfrm>
          <a:prstGeom prst="roundRect">
            <a:avLst/>
          </a:prstGeom>
          <a:solidFill>
            <a:srgbClr val="142537"/>
          </a:solidFill>
          <a:ln>
            <a:solidFill>
              <a:srgbClr val="687B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9672" y="3941064"/>
            <a:ext cx="46177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ptos"/>
              </a:rPr>
              <a:t>Use the same measures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9672" y="4471416"/>
            <a:ext cx="4617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C6D4DE"/>
                </a:solidFill>
                <a:latin typeface="Aptos"/>
              </a:rPr>
              <a:t>Customer results and team effort help resolve format debates.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92840" y="644652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687B8E"/>
                </a:solidFill>
                <a:latin typeface="Apto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B"/>
          </a:solidFill>
          <a:ln>
            <a:solidFill>
              <a:srgbClr val="F6F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F6836"/>
                </a:solidFill>
                <a:latin typeface="Aptos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85800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22D38"/>
                </a:solidFill>
                <a:latin typeface="Aptos"/>
              </a:rPr>
              <a:t>A 90-day starting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37360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CF6836"/>
                </a:solidFill>
                <a:latin typeface="Aptos"/>
              </a:rPr>
              <a:t>Days 1–30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331720"/>
            <a:ext cx="324612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27432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222D38"/>
                </a:solidFill>
                <a:latin typeface="Aptos"/>
              </a:rPr>
              <a:t>Choose one difficult customer journey. Map the teams, content, owners, and measures.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53128" y="1737360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CF6836"/>
                </a:solidFill>
                <a:latin typeface="Aptos"/>
              </a:rPr>
              <a:t>Days 31–60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53128" y="2331720"/>
            <a:ext cx="324612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2651760"/>
            <a:ext cx="27432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222D38"/>
                </a:solidFill>
                <a:latin typeface="Aptos"/>
              </a:rPr>
              <a:t>Run a cross-functional audit. Identify reuse, gaps, and ownership.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47888" y="1737360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CF6836"/>
                </a:solidFill>
                <a:latin typeface="Aptos"/>
              </a:rPr>
              <a:t>Days 61–90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47888" y="2331720"/>
            <a:ext cx="324612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2651760"/>
            <a:ext cx="27432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222D38"/>
                </a:solidFill>
                <a:latin typeface="Aptos"/>
              </a:rPr>
              <a:t>Test the requirements and workflow. Measure cycle time, rework, and reuse.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34924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300" b="1" i="0">
                <a:solidFill>
                  <a:srgbClr val="222D38"/>
                </a:solidFill>
                <a:latin typeface="Aptos"/>
              </a:rPr>
              <a:t>Start where coordination pain and customer value are both visible.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4652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687B8E"/>
                </a:solidFill>
                <a:latin typeface="Apto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826"/>
          </a:solidFill>
          <a:ln>
            <a:solidFill>
              <a:srgbClr val="0C18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F6836"/>
                </a:solidFill>
                <a:latin typeface="Aptos"/>
              </a:rPr>
              <a:t>UNIFIED CONTENT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102412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ptos"/>
              </a:rPr>
              <a:t>Start with one customer journey.
Find the overlap and agree on ownership.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3337560"/>
            <a:ext cx="89611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C6D4DE"/>
                </a:solidFill>
                <a:latin typeface="Aptos"/>
              </a:rPr>
              <a:t>Test the process with a small group. Track repeated work, review time, reuse, and customer results.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87568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ptos"/>
              </a:rPr>
              <a:t>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687B8E"/>
                </a:solidFill>
                <a:latin typeface="Aptos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