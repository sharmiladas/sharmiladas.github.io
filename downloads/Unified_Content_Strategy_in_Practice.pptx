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e3d68d4623429f" /><Relationship Type="http://schemas.openxmlformats.org/officeDocument/2006/relationships/extended-properties" Target="/docProps/app.xml" Id="Rc0c264ecb04b48a8" /><Relationship Type="http://schemas.openxmlformats.org/officeDocument/2006/relationships/officeDocument" Target="/ppt/presentation.xml" Id="R0687faad554545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8ba38c483c407c"/>
  </p:sldMasterIdLst>
  <p:notesMasterIdLst>
    <p:notesMasterId xmlns:r="http://schemas.openxmlformats.org/officeDocument/2006/relationships" r:id="R50eb9f3a7af24838"/>
  </p:notesMasterIdLst>
  <p:sldIdLst>
    <p:sldId xmlns:r="http://schemas.openxmlformats.org/officeDocument/2006/relationships" id="256" r:id="R31a3fdb5b25a463b"/>
    <p:sldId xmlns:r="http://schemas.openxmlformats.org/officeDocument/2006/relationships" id="257" r:id="R9f144d20c8a94d8e"/>
    <p:sldId xmlns:r="http://schemas.openxmlformats.org/officeDocument/2006/relationships" id="258" r:id="R92b4044aa6994145"/>
    <p:sldId xmlns:r="http://schemas.openxmlformats.org/officeDocument/2006/relationships" id="259" r:id="R8fd394ed876e4ebe"/>
    <p:sldId xmlns:r="http://schemas.openxmlformats.org/officeDocument/2006/relationships" id="260" r:id="Rb6a2ce1f1754471d"/>
    <p:sldId xmlns:r="http://schemas.openxmlformats.org/officeDocument/2006/relationships" id="261" r:id="Rc2208c4bf3bf4486"/>
    <p:sldId xmlns:r="http://schemas.openxmlformats.org/officeDocument/2006/relationships" id="262" r:id="Rc8d9e5f846594614"/>
    <p:sldId xmlns:r="http://schemas.openxmlformats.org/officeDocument/2006/relationships" id="263" r:id="R4d82ea0342aa48fb"/>
    <p:sldId xmlns:r="http://schemas.openxmlformats.org/officeDocument/2006/relationships" id="264" r:id="R6aa03a2fe84642e4"/>
    <p:sldId xmlns:r="http://schemas.openxmlformats.org/officeDocument/2006/relationships" id="265" r:id="R88374ff2dce547c2"/>
    <p:sldId xmlns:r="http://schemas.openxmlformats.org/officeDocument/2006/relationships" id="266" r:id="R25422258b88b410c"/>
    <p:sldId xmlns:r="http://schemas.openxmlformats.org/officeDocument/2006/relationships" id="267" r:id="Rc9fa17bc858a4c76"/>
    <p:sldId xmlns:r="http://schemas.openxmlformats.org/officeDocument/2006/relationships" id="268" r:id="R5f4f98a2862c45bf"/>
    <p:sldId xmlns:r="http://schemas.openxmlformats.org/officeDocument/2006/relationships" id="269" r:id="R6032ba59e56644b7"/>
    <p:sldId xmlns:r="http://schemas.openxmlformats.org/officeDocument/2006/relationships" id="270" r:id="R27daa6affac94e56"/>
    <p:sldId xmlns:r="http://schemas.openxmlformats.org/officeDocument/2006/relationships" id="271" r:id="R0bccf89417134832"/>
    <p:sldId xmlns:r="http://schemas.openxmlformats.org/officeDocument/2006/relationships" id="272" r:id="Rd0e18a792d264354"/>
    <p:sldId xmlns:r="http://schemas.openxmlformats.org/officeDocument/2006/relationships" id="273" r:id="Rf531222761884ac9"/>
    <p:sldId xmlns:r="http://schemas.openxmlformats.org/officeDocument/2006/relationships" id="274" r:id="R789a196de7fa409e"/>
    <p:sldId xmlns:r="http://schemas.openxmlformats.org/officeDocument/2006/relationships" id="275" r:id="Rd27a3e02074943cc"/>
    <p:sldId xmlns:r="http://schemas.openxmlformats.org/officeDocument/2006/relationships" id="276" r:id="R5912f95353ae4d8f"/>
    <p:sldId xmlns:r="http://schemas.openxmlformats.org/officeDocument/2006/relationships" id="277" r:id="R8d618d0ead234788"/>
    <p:sldId xmlns:r="http://schemas.openxmlformats.org/officeDocument/2006/relationships" id="278" r:id="Rda38c5cd48094cad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26a3525f9646fb" /><Relationship Type="http://schemas.openxmlformats.org/officeDocument/2006/relationships/slideMaster" Target="/ppt/slideMasters/slideMaster1.xml" Id="R718ba38c483c407c" /><Relationship Type="http://schemas.openxmlformats.org/officeDocument/2006/relationships/notesMaster" Target="/ppt/notesMasters/notesMaster1.xml" Id="R50eb9f3a7af24838" /><Relationship Type="http://schemas.openxmlformats.org/officeDocument/2006/relationships/presProps" Target="/ppt/presProps.xml" Id="Rdeeae7e403984c92" /><Relationship Type="http://schemas.openxmlformats.org/officeDocument/2006/relationships/viewProps" Target="/ppt/viewProps.xml" Id="R2bf5d096fc804d79" /><Relationship Type="http://schemas.openxmlformats.org/officeDocument/2006/relationships/tableStyles" Target="/ppt/tableStyles.xml" Id="R257dd8b9608841ee" /><Relationship Type="http://schemas.openxmlformats.org/officeDocument/2006/relationships/slide" Target="/ppt/slides/slide1.xml" Id="R31a3fdb5b25a463b" /><Relationship Type="http://schemas.openxmlformats.org/officeDocument/2006/relationships/slide" Target="/ppt/slides/slide2.xml" Id="R9f144d20c8a94d8e" /><Relationship Type="http://schemas.openxmlformats.org/officeDocument/2006/relationships/slide" Target="/ppt/slides/slide3.xml" Id="R92b4044aa6994145" /><Relationship Type="http://schemas.openxmlformats.org/officeDocument/2006/relationships/slide" Target="/ppt/slides/slide4.xml" Id="R8fd394ed876e4ebe" /><Relationship Type="http://schemas.openxmlformats.org/officeDocument/2006/relationships/slide" Target="/ppt/slides/slide5.xml" Id="Rb6a2ce1f1754471d" /><Relationship Type="http://schemas.openxmlformats.org/officeDocument/2006/relationships/slide" Target="/ppt/slides/slide6.xml" Id="Rc2208c4bf3bf4486" /><Relationship Type="http://schemas.openxmlformats.org/officeDocument/2006/relationships/slide" Target="/ppt/slides/slide7.xml" Id="Rc8d9e5f846594614" /><Relationship Type="http://schemas.openxmlformats.org/officeDocument/2006/relationships/slide" Target="/ppt/slides/slide8.xml" Id="R4d82ea0342aa48fb" /><Relationship Type="http://schemas.openxmlformats.org/officeDocument/2006/relationships/slide" Target="/ppt/slides/slide9.xml" Id="R6aa03a2fe84642e4" /><Relationship Type="http://schemas.openxmlformats.org/officeDocument/2006/relationships/slide" Target="/ppt/slides/slide10.xml" Id="R88374ff2dce547c2" /><Relationship Type="http://schemas.openxmlformats.org/officeDocument/2006/relationships/slide" Target="/ppt/slides/slide11.xml" Id="R25422258b88b410c" /><Relationship Type="http://schemas.openxmlformats.org/officeDocument/2006/relationships/slide" Target="/ppt/slides/slide12.xml" Id="Rc9fa17bc858a4c76" /><Relationship Type="http://schemas.openxmlformats.org/officeDocument/2006/relationships/slide" Target="/ppt/slides/slide13.xml" Id="R5f4f98a2862c45bf" /><Relationship Type="http://schemas.openxmlformats.org/officeDocument/2006/relationships/slide" Target="/ppt/slides/slide14.xml" Id="R6032ba59e56644b7" /><Relationship Type="http://schemas.openxmlformats.org/officeDocument/2006/relationships/slide" Target="/ppt/slides/slide15.xml" Id="R27daa6affac94e56" /><Relationship Type="http://schemas.openxmlformats.org/officeDocument/2006/relationships/slide" Target="/ppt/slides/slide16.xml" Id="R0bccf89417134832" /><Relationship Type="http://schemas.openxmlformats.org/officeDocument/2006/relationships/slide" Target="/ppt/slides/slide17.xml" Id="Rd0e18a792d264354" /><Relationship Type="http://schemas.openxmlformats.org/officeDocument/2006/relationships/slide" Target="/ppt/slides/slide18.xml" Id="Rf531222761884ac9" /><Relationship Type="http://schemas.openxmlformats.org/officeDocument/2006/relationships/slide" Target="/ppt/slides/slide19.xml" Id="R789a196de7fa409e" /><Relationship Type="http://schemas.openxmlformats.org/officeDocument/2006/relationships/slide" Target="/ppt/slides/slide20.xml" Id="Rd27a3e02074943cc" /><Relationship Type="http://schemas.openxmlformats.org/officeDocument/2006/relationships/slide" Target="/ppt/slides/slide21.xml" Id="R5912f95353ae4d8f" /><Relationship Type="http://schemas.openxmlformats.org/officeDocument/2006/relationships/slide" Target="/ppt/slides/slide22.xml" Id="R8d618d0ead234788" /><Relationship Type="http://schemas.openxmlformats.org/officeDocument/2006/relationships/slide" Target="/ppt/slides/slide23.xml" Id="Rda38c5cd48094c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a6fc92094a41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c7ff7f7c974d3f" /><Relationship Type="http://schemas.openxmlformats.org/officeDocument/2006/relationships/notesMaster" Target="/ppt/notesMasters/notesMaster1.xml" Id="R0cfe0ed7c15742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0bb3e4f2f9493e" /><Relationship Type="http://schemas.openxmlformats.org/officeDocument/2006/relationships/notesMaster" Target="/ppt/notesMasters/notesMaster1.xml" Id="R030d369d6d4346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0574b95cf245a3" /><Relationship Type="http://schemas.openxmlformats.org/officeDocument/2006/relationships/notesMaster" Target="/ppt/notesMasters/notesMaster1.xml" Id="R7ad86857b60947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1746c902494c31" /><Relationship Type="http://schemas.openxmlformats.org/officeDocument/2006/relationships/notesMaster" Target="/ppt/notesMasters/notesMaster1.xml" Id="R9ada6c3fcbe4466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303da4fc8845af" /><Relationship Type="http://schemas.openxmlformats.org/officeDocument/2006/relationships/notesMaster" Target="/ppt/notesMasters/notesMaster1.xml" Id="Rdaf71a6d43c547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346adc8ae94c26" /><Relationship Type="http://schemas.openxmlformats.org/officeDocument/2006/relationships/notesMaster" Target="/ppt/notesMasters/notesMaster1.xml" Id="Rfd87311f80eb4a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afa7038c4c4490" /><Relationship Type="http://schemas.openxmlformats.org/officeDocument/2006/relationships/notesMaster" Target="/ppt/notesMasters/notesMaster1.xml" Id="R191142d59a3b49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7dc51f9212426d" /><Relationship Type="http://schemas.openxmlformats.org/officeDocument/2006/relationships/notesMaster" Target="/ppt/notesMasters/notesMaster1.xml" Id="R4f4a2bdac22645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56601fa6484ec6" /><Relationship Type="http://schemas.openxmlformats.org/officeDocument/2006/relationships/notesMaster" Target="/ppt/notesMasters/notesMaster1.xml" Id="Rc0d9f5a3e8f744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2d38b14c7044b9" /><Relationship Type="http://schemas.openxmlformats.org/officeDocument/2006/relationships/notesMaster" Target="/ppt/notesMasters/notesMaster1.xml" Id="R0b64856cd85047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891d93acb84a31" /><Relationship Type="http://schemas.openxmlformats.org/officeDocument/2006/relationships/notesMaster" Target="/ppt/notesMasters/notesMaster1.xml" Id="R5fc7d4d59de246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a801f7ba694617" /><Relationship Type="http://schemas.openxmlformats.org/officeDocument/2006/relationships/notesMaster" Target="/ppt/notesMasters/notesMaster1.xml" Id="Ra68416ad48284f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4904b03136a41a1" /><Relationship Type="http://schemas.openxmlformats.org/officeDocument/2006/relationships/notesMaster" Target="/ppt/notesMasters/notesMaster1.xml" Id="R6228a3bd305040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b11844b1e4841ee" /><Relationship Type="http://schemas.openxmlformats.org/officeDocument/2006/relationships/notesMaster" Target="/ppt/notesMasters/notesMaster1.xml" Id="R6cb1af616ddc4cc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0f15eaf44234f04" /><Relationship Type="http://schemas.openxmlformats.org/officeDocument/2006/relationships/notesMaster" Target="/ppt/notesMasters/notesMaster1.xml" Id="R52e784361be0427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ecc44161f5d46f9" /><Relationship Type="http://schemas.openxmlformats.org/officeDocument/2006/relationships/notesMaster" Target="/ppt/notesMasters/notesMaster1.xml" Id="R04b650e8d2a2436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a30a7edb924072" /><Relationship Type="http://schemas.openxmlformats.org/officeDocument/2006/relationships/notesMaster" Target="/ppt/notesMasters/notesMaster1.xml" Id="R2faf6351e27e42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330931c75a64546" /><Relationship Type="http://schemas.openxmlformats.org/officeDocument/2006/relationships/notesMaster" Target="/ppt/notesMasters/notesMaster1.xml" Id="R69f5b2dea2ef418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9ccd605cfd84c15" /><Relationship Type="http://schemas.openxmlformats.org/officeDocument/2006/relationships/notesMaster" Target="/ppt/notesMasters/notesMaster1.xml" Id="R2685d4b2452741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2df8341749e4cef" /><Relationship Type="http://schemas.openxmlformats.org/officeDocument/2006/relationships/notesMaster" Target="/ppt/notesMasters/notesMaster1.xml" Id="Raa9c16dcdd304a8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1bdb54762e24972" /><Relationship Type="http://schemas.openxmlformats.org/officeDocument/2006/relationships/notesMaster" Target="/ppt/notesMasters/notesMaster1.xml" Id="R64b0fe15113b44b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b5730c569474fcd" /><Relationship Type="http://schemas.openxmlformats.org/officeDocument/2006/relationships/notesMaster" Target="/ppt/notesMasters/notesMaster1.xml" Id="Re31d9869243440e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f5f2bc595974b4e" /><Relationship Type="http://schemas.openxmlformats.org/officeDocument/2006/relationships/notesMaster" Target="/ppt/notesMasters/notesMaster1.xml" Id="Rf3a5431ca85b4f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4c42ec5bd8460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81c07bdb84410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1f0f7c6e084c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0073f11ef0485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cba4dff9646c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434cc03a8a448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90b705d5d94e7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ade73a1ad94d0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7bb288d523488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15b095abe7464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126bae016046a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6D0A54-9308-4634-A53E-A294DA30A57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CB46B4-5B55-40BD-904E-56FED5ECD42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C01421-1A9B-42C6-A004-616765E8DD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CA7380-1FDC-417E-9E62-3148856BDA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CA2CD5B-DEAB-42AB-9BF1-B9767C1048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4F84F3-FCD0-477E-8363-1D4E04DC4F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FBAA37F-DB80-45A8-88AF-35DBF61A193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B09C78A-2EFE-4AF4-8F5F-48DE735F8C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8E52C56-AE59-4F5E-A0EC-AB68B3B7B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8B07BC-7CAC-4F7D-B91E-5374EF9C8E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F6AF8C-9568-4231-B7CB-348D80B243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DD564C-D802-40C2-8AB0-10B383D871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114DF9-1EB5-4423-8516-DD180B2F2D4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B8DCD7-215C-4FFE-B48A-F8204F4946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64DB80E-F3FC-441F-A799-9DAD6B310E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8EC5FB-1078-45CA-BE49-0DCB74D253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245C07F-CBC1-4A42-A745-2317C36DB90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610AE9E-05E3-45C7-ACBC-FC30355442E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12E754A-4A1E-4FBE-A018-3E41D520FB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709354-88CB-4BF8-B04D-B8EE2D8BF1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026A1D-A750-450C-8E1C-EE86A8536C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EF71D9-CDE8-489D-82D8-2828C092E9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D2893F-43B7-4F30-85A5-D1DCD64151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46BACD1-3412-4949-BA47-A0511DF84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29BBCDD-F4E8-4AD5-8A2E-8EF7F30B207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CDB4A5D-BD05-4665-AF84-38038CEA9A0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331148-0F87-427F-B543-A84F3461F1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99CC67C-5896-4040-8449-A2CA473C8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27293E4-9269-4148-BDB4-33CDD9D027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540ED0-2C3B-43FC-A1EF-A128B7EB7D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7AAD6BD-C9C0-4E1C-82DF-4D331DFE74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335098C-59EA-4087-A19D-CCBCFC271A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C33C4E3-F52C-4E76-A528-5FBA094BF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133461F-F4B3-46AE-BCCC-0BB544DE5C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1F69D08-271A-45C2-9195-9613F31D29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CB06DF0-7FF1-4C20-91DA-CEAC54A919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997DDA-8071-4726-98CD-34E86835FC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CBC48B-F1AF-4FC8-89A0-6603992EC48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5AED925-7EDA-4693-9CC7-A60BFEF13C8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64CF448-FEAC-46F6-B013-5DD655F992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3DCD4F-19C0-4A93-8688-0A237128E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DB28B84-6A19-4A7F-8610-93C7997948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B9E849F-A1C6-4184-897E-6EA8A690F5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BE941A6-FF20-4295-8ED3-F55A7C6B782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3862ACB-DA84-426B-AA07-FEE51AD0B6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233B356-700B-49BC-9AA2-793EA985BC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D97FF3-C5D6-4D3F-AB28-2A515B665A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FB38017-3414-4C82-89D4-5B24A3E83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6FA3D9-F143-4689-AA27-2454AD9BE7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781877-6835-4134-8711-D9C5C368BB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FDD893-8591-46F6-B7BE-EDDBBA138B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F3D21EB-CAB3-4EC0-B523-411B008311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20F0B0F-DF43-44A4-A12D-1637D36E1F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746FFA1-805D-476D-B632-B35AFB7BA9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7E57D52-04F3-44F2-B344-EA60F09578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698B36-D01F-4DAB-89B5-C117DA1759E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9BA025-7901-4E87-84FB-B6040F5C73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CCA99F-27C2-4783-94AD-E50BEE79D4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8e32337474483d" /><Relationship Type="http://schemas.openxmlformats.org/officeDocument/2006/relationships/slideLayout" Target="/ppt/slideLayouts/slideLayout1.xml" Id="R6dc69e47d5414ab8" /><Relationship Type="http://schemas.openxmlformats.org/officeDocument/2006/relationships/slideLayout" Target="/ppt/slideLayouts/slideLayout2.xml" Id="R6ea06ea83d934af2" /><Relationship Type="http://schemas.openxmlformats.org/officeDocument/2006/relationships/slideLayout" Target="/ppt/slideLayouts/slideLayout3.xml" Id="R74d70f0e6f524782" /><Relationship Type="http://schemas.openxmlformats.org/officeDocument/2006/relationships/slideLayout" Target="/ppt/slideLayouts/slideLayout4.xml" Id="R93bcb1ac12c54a2c" /><Relationship Type="http://schemas.openxmlformats.org/officeDocument/2006/relationships/slideLayout" Target="/ppt/slideLayouts/slideLayout5.xml" Id="Rfbac2fd0bee84a7d" /><Relationship Type="http://schemas.openxmlformats.org/officeDocument/2006/relationships/slideLayout" Target="/ppt/slideLayouts/slideLayout6.xml" Id="R1aef61f4b8b34433" /><Relationship Type="http://schemas.openxmlformats.org/officeDocument/2006/relationships/slideLayout" Target="/ppt/slideLayouts/slideLayout7.xml" Id="Rfb82fc383ad74f40" /><Relationship Type="http://schemas.openxmlformats.org/officeDocument/2006/relationships/slideLayout" Target="/ppt/slideLayouts/slideLayout8.xml" Id="Rad103b64b2884c11" /><Relationship Type="http://schemas.openxmlformats.org/officeDocument/2006/relationships/slideLayout" Target="/ppt/slideLayouts/slideLayout9.xml" Id="Re500d97aa8ed4e69" /><Relationship Type="http://schemas.openxmlformats.org/officeDocument/2006/relationships/slideLayout" Target="/ppt/slideLayouts/slideLayout10.xml" Id="Ra365b5be212640c0" /><Relationship Type="http://schemas.openxmlformats.org/officeDocument/2006/relationships/slideLayout" Target="/ppt/slideLayouts/slideLayout11.xml" Id="Rbc74dc1c901a451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230720-3CFF-470E-9FD7-7F86855CD7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E7AA0-272A-4012-8FC9-9CFD667690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44EA8D-F6D4-4983-9A74-BAB5802AB2F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2F14123-4FD7-4B05-9057-D9EDC4BA69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FEE1CF-9227-4C0F-A9E1-E958A7FC339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c69e47d5414ab8"/>
    <p:sldLayoutId xmlns:r="http://schemas.openxmlformats.org/officeDocument/2006/relationships" id="2147483650" r:id="R6ea06ea83d934af2"/>
    <p:sldLayoutId xmlns:r="http://schemas.openxmlformats.org/officeDocument/2006/relationships" id="2147483651" r:id="R74d70f0e6f524782"/>
    <p:sldLayoutId xmlns:r="http://schemas.openxmlformats.org/officeDocument/2006/relationships" id="2147483652" r:id="R93bcb1ac12c54a2c"/>
    <p:sldLayoutId xmlns:r="http://schemas.openxmlformats.org/officeDocument/2006/relationships" id="2147483653" r:id="Rfbac2fd0bee84a7d"/>
    <p:sldLayoutId xmlns:r="http://schemas.openxmlformats.org/officeDocument/2006/relationships" id="2147483654" r:id="R1aef61f4b8b34433"/>
    <p:sldLayoutId xmlns:r="http://schemas.openxmlformats.org/officeDocument/2006/relationships" id="2147483655" r:id="Rfb82fc383ad74f40"/>
    <p:sldLayoutId xmlns:r="http://schemas.openxmlformats.org/officeDocument/2006/relationships" id="2147483656" r:id="Rad103b64b2884c11"/>
    <p:sldLayoutId xmlns:r="http://schemas.openxmlformats.org/officeDocument/2006/relationships" id="2147483657" r:id="Re500d97aa8ed4e69"/>
    <p:sldLayoutId xmlns:r="http://schemas.openxmlformats.org/officeDocument/2006/relationships" id="2147483658" r:id="Ra365b5be212640c0"/>
    <p:sldLayoutId xmlns:r="http://schemas.openxmlformats.org/officeDocument/2006/relationships" id="2147483659" r:id="Rbc74dc1c901a451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13eb1789a4585" /><Relationship Type="http://schemas.openxmlformats.org/officeDocument/2006/relationships/image" Target="/ppt/media/image.png" Id="R33d2f23803d448c5" /><Relationship Type="http://schemas.openxmlformats.org/officeDocument/2006/relationships/notesSlide" Target="/ppt/notesSlides/notesSlide1.xml" Id="R02b3d8bd751243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ccc3a472714cc0" /><Relationship Type="http://schemas.openxmlformats.org/officeDocument/2006/relationships/notesSlide" Target="/ppt/notesSlides/notesSlide2.xml" Id="R98ef777608b645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5804de4e984233" /><Relationship Type="http://schemas.openxmlformats.org/officeDocument/2006/relationships/notesSlide" Target="/ppt/notesSlides/notesSlide3.xml" Id="Rfc0a0d83216441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8a5a9cae134666" /><Relationship Type="http://schemas.openxmlformats.org/officeDocument/2006/relationships/notesSlide" Target="/ppt/notesSlides/notesSlide4.xml" Id="R5d2986a0c5ca45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1efe10930094527" /><Relationship Type="http://schemas.openxmlformats.org/officeDocument/2006/relationships/notesSlide" Target="/ppt/notesSlides/notesSlide5.xml" Id="R1b667fc69dbc47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f7d98fed4e4caa" /><Relationship Type="http://schemas.openxmlformats.org/officeDocument/2006/relationships/notesSlide" Target="/ppt/notesSlides/notesSlide6.xml" Id="R42105a1fcce9427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01951e4fed43d0" /><Relationship Type="http://schemas.openxmlformats.org/officeDocument/2006/relationships/notesSlide" Target="/ppt/notesSlides/notesSlide7.xml" Id="R56e16d15cf2f411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7c5cf7656f4a12" /><Relationship Type="http://schemas.openxmlformats.org/officeDocument/2006/relationships/notesSlide" Target="/ppt/notesSlides/notesSlide8.xml" Id="R1e8cf73cb34442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b9449901f4407b" /><Relationship Type="http://schemas.openxmlformats.org/officeDocument/2006/relationships/notesSlide" Target="/ppt/notesSlides/notesSlide9.xml" Id="R7e63367e4e61410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1c4d5c00ae943bb" /><Relationship Type="http://schemas.openxmlformats.org/officeDocument/2006/relationships/notesSlide" Target="/ppt/notesSlides/notesSlide10.xml" Id="Ra3ee72cc82dc4a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280312ff0b4e78" /><Relationship Type="http://schemas.openxmlformats.org/officeDocument/2006/relationships/notesSlide" Target="/ppt/notesSlides/notesSlide11.xml" Id="R0c88f5e54d25454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f92f19443e42ca" /><Relationship Type="http://schemas.openxmlformats.org/officeDocument/2006/relationships/notesSlide" Target="/ppt/notesSlides/notesSlide12.xml" Id="Rd689157419cb42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21b2b39bd14769" /><Relationship Type="http://schemas.openxmlformats.org/officeDocument/2006/relationships/notesSlide" Target="/ppt/notesSlides/notesSlide13.xml" Id="Rf05561213ff347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a56af7cc784b82" /><Relationship Type="http://schemas.openxmlformats.org/officeDocument/2006/relationships/notesSlide" Target="/ppt/notesSlides/notesSlide14.xml" Id="R366cb37ab202427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87604e6e3d4035" /><Relationship Type="http://schemas.openxmlformats.org/officeDocument/2006/relationships/notesSlide" Target="/ppt/notesSlides/notesSlide15.xml" Id="R2fcc1facbd6f438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531dd2d7094876" /><Relationship Type="http://schemas.openxmlformats.org/officeDocument/2006/relationships/notesSlide" Target="/ppt/notesSlides/notesSlide16.xml" Id="Rf0a8dce3aff346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099e35654842ad" /><Relationship Type="http://schemas.openxmlformats.org/officeDocument/2006/relationships/notesSlide" Target="/ppt/notesSlides/notesSlide17.xml" Id="Rdce067b83a94433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d2d28ebae4a48ba" /><Relationship Type="http://schemas.openxmlformats.org/officeDocument/2006/relationships/notesSlide" Target="/ppt/notesSlides/notesSlide18.xml" Id="Rd45ca2293e13404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25a61e7e224157" /><Relationship Type="http://schemas.openxmlformats.org/officeDocument/2006/relationships/notesSlide" Target="/ppt/notesSlides/notesSlide19.xml" Id="Red6f65d3b1c84ac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9a77e8544948b9" /><Relationship Type="http://schemas.openxmlformats.org/officeDocument/2006/relationships/notesSlide" Target="/ppt/notesSlides/notesSlide20.xml" Id="R0d76c81882604ba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dc65390b714e9b" /><Relationship Type="http://schemas.openxmlformats.org/officeDocument/2006/relationships/notesSlide" Target="/ppt/notesSlides/notesSlide21.xml" Id="R7b88be73d70d4ef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e58997348a471a" /><Relationship Type="http://schemas.openxmlformats.org/officeDocument/2006/relationships/notesSlide" Target="/ppt/notesSlides/notesSlide22.xml" Id="R0f02cf994149473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fb459261b7844b9" /><Relationship Type="http://schemas.openxmlformats.org/officeDocument/2006/relationships/notesSlide" Target="/ppt/notesSlides/notesSlide23.xml" Id="R5083dd24e071447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2f23803d448c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40101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9E5E2CB-1967-454F-B989-19F0EA07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2F058FC-2C26-42A7-9D76-FF38D559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6459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D58D985-12B6-4F5A-891A-D9ED565C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3232"/>
            <a:ext cx="7132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CONTENT AS A BUSINESS ASSET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3616DE-1F0B-4BEA-A642-6A3870D0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987552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Unified content strategy</a:t>
            </a:r>
          </a:p>
          <a:p xmlns:a="http://schemas.openxmlformats.org/drawingml/2006/main">
            <a:pPr algn="l">
              <a:buNone/>
            </a:pPr>
            <a:r>
              <a:rPr sz="3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 practice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717035-7781-405E-B586-73B91D20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01568"/>
            <a:ext cx="777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0" i="0">
                <a:solidFill>
                  <a:srgbClr val="C0CDD9"/>
                </a:solidFill>
                <a:latin typeface="Aptos"/>
                <a:ea typeface="Aptos"/>
                <a:cs typeface="Aptos"/>
              </a:rPr>
              <a:t>A LavaCon case study based on a product launch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CF09819-6A70-4FBB-86F1-823F4782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824728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Sharmila Das  ·  Rebecca Rhee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072ABA9-75AA-42BD-9356-0E87672E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208776"/>
            <a:ext cx="9601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Content strategy, information architecture, and cross-team workflow</a:t>
            </a:r>
          </a:p>
        </p:txBody>
      </p:sp>
    </p:spTree>
    <p:extLst>
      <p:ext uri="{BB962C8B-B14F-4D97-AF65-F5344CB8AC3E}">
        <p14:creationId xmlns:p14="http://schemas.microsoft.com/office/powerpoint/2010/main" val="15830645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1DF86-C327-4D56-B839-3993C43A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768798-9076-4042-B43C-16EC48AD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WHY CONTENT IS AN ASSET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3E44F1B-499C-40B9-953B-F9A7D304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Content has value beyond one deliverable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7CCE0F-3DC4-417A-9BA9-5EFB040D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28800"/>
            <a:ext cx="64922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trusted source can serve several formats and customer needs over time.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39CA63E-955A-4964-88EA-3EBA488A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00200"/>
            <a:ext cx="3611880" cy="3291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37128B-2DBD-43FC-AB7D-5D555E87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38528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makes it an asset: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C9EAC54-34AA-425B-B447-0EA671FD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42032"/>
            <a:ext cx="27432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1. An owner and review date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2. Approved, reusable knowledge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3. Evidence of customer use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4. The cost of upkeep and risk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866905-FC4B-43F5-B059-15FAD39D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6583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pilot exposed roughly 30% overlap, creating an immediate reuse opportunity.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17326B-C685-438B-8E35-7961E0E7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8410696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1DF86-C327-4D56-B839-3993C43A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768798-9076-4042-B43C-16EC48AD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AT A GLANCE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3E44F1B-499C-40B9-953B-F9A7D304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Unified content strategy at a glance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57CCE0F-3DC4-417A-9BA9-5EFB040D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28800"/>
            <a:ext cx="649224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One customer journey needs a shared plan across the teams behind it.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39CA63E-955A-4964-88EA-3EBA488A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00200"/>
            <a:ext cx="3611880" cy="3291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C37128B-2DBD-43FC-AB7D-5D555E87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938528"/>
            <a:ext cx="29260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This presentation covers: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C9EAC54-34AA-425B-B447-0EA671FD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542032"/>
            <a:ext cx="27432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1. Shared decisions across teams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2. A seven-step working method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3. A product-launch pilot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4. Lessons and a 90-day start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866905-FC4B-43F5-B059-15FAD39D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658368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pilot found roughly 30% overlap in the content reviewed.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17326B-C685-438B-8E35-7961E0E7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841069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42ED87A-37C0-4892-98F4-CAC146C7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75DCBA6-DA22-42DB-A419-25EFAF07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  THE PROBLEM AND SHARED DECISIONS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10F5AB5-6F03-4C72-A108-1E8E700E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Fragmented teams create hidden content debt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BDA8E32-9BC8-4077-B979-9C359C10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60F40D-3470-49F6-9914-6254E7C7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225856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Marketing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BFA3980-EB77-4987-8FB9-6BDAB1AE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308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BC5AE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034857A-2A11-40B7-B858-EA07F9D9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5" y="198424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Technical
publications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D2337B8-A629-4647-8190-49319EB7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6596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4AE4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B825319-23EE-474E-A7AB-1C3AA6E6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16712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Customer
education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A424B43-EA75-4CFA-8136-A1C92D76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1783080"/>
            <a:ext cx="18288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F406C8B-EFFB-4476-B506-D01C546E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2056" y="1984248"/>
            <a:ext cx="1572768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Sales and
field support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9E78CF6-90BC-44ED-B73F-B012420F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94760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Different tools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1AF8FF1-408D-4341-8E49-88AE3CA2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79476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Repeated research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548889F-B6A7-4A9E-96B9-419EEC1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794760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Conflicting versions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B9867C-09B6-4039-A41F-53E1BDA4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379476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 i="0">
                <a:solidFill>
                  <a:srgbClr val="BBC9D4"/>
                </a:solidFill>
                <a:latin typeface="Aptos"/>
                <a:ea typeface="Aptos"/>
                <a:cs typeface="Aptos"/>
              </a:rPr>
              <a:t>Duplicate production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27B55CB-AE8D-4786-AFB1-6E7A3BC35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2040"/>
            <a:ext cx="102412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Each team finishes its assignment, but no one sees the whole customer journey.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78C9EF5-0861-48AF-BAFD-AFCBF04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074812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D0D5B30-E57A-4B1F-AA6E-9AF9C1E3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76AC76C-D4C2-4E85-AD72-F2C32504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  THE PROBLEM AND SHARED DECISIONS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CA03736-54FB-46B6-8958-01778BCA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What teams agree 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8CEDD15-0592-4AEF-98ED-43A83DA7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BC017D7-C2A3-48F5-A3DE-0D3D3A85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519CD55-FFCF-4CA7-A675-18512DAB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Start with the same customer need and desired result.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3247F5E-C7C1-4396-81ED-82081B8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9B0FB4-095D-4F5B-BE2F-22205A71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8B4C90C-7E3E-4A06-AF4A-AB5C8066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ECEF670-748F-46ED-A1D6-B5752D9C5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Use one approved explanation, claim, or procedure.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DE657CE-CB2F-4008-A91C-3C267825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C5AE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8FF1631-13EE-4D40-A811-5CFA923C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48A1723-A832-4C81-9D22-C95532FE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Ownership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369F460-FDE7-40A7-AFD1-73EB549B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Agree on who creates, reviews, and maintains it.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F065A943-CA37-4C66-AF33-33F40360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AE4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E4DEEAA-E1E5-4BE9-AAA8-E5A26A92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28800"/>
            <a:ext cx="502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73FB145-28FD-4726-954C-450BB758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12848"/>
            <a:ext cx="2286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Delivery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B5853A3-5DDF-47AD-B9D3-09F4CDAA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88920"/>
            <a:ext cx="22860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52616F"/>
                </a:solidFill>
                <a:latin typeface="Aptos"/>
                <a:ea typeface="Aptos"/>
                <a:cs typeface="Aptos"/>
              </a:rPr>
              <a:t>Adapt the source for each audience and channel.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AFCEE85-91AC-4784-A9B7-774B8751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315968"/>
            <a:ext cx="214884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C1F8DA5-2AB1-4934-B843-CCC1E30F3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166360"/>
            <a:ext cx="104241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Teams can keep the tools and formats that fit their work while coordinating the decisions that affect everyone.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4426728-BB3A-4B7C-B3D0-D46D02A0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35023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5CB5244-9871-470A-A54F-2E752E43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9348E7C-7D31-4F7E-BAA5-7DCE08931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4633124-32F4-4FF9-B7D8-3A6017EC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Seven steps that worked for us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5B3987D-F5D1-4B98-8755-65BFD99C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72768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3FCA18-624D-4A6E-B761-DEA55B50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F963F10-73D2-461A-902F-2D2CD870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563624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Analyze the business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4B81E98-C785-40CC-92F0-C7E1A5BD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1993392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1046031-8187-44A8-AE9A-6F697D3C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03704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1552073-2212-4931-A924-EAD1C333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3113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B1ABAD-3BA9-474B-AB6D-A9B213C7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194560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Inventory content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4651A32D-5C83-496E-8F3F-90D2019D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2624328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956CD181-A292-4E29-A9EC-2DA7F6E5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34639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AEE4410-2418-4DAE-87BE-A2C24B18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62071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C0644F9-617A-4FFF-A92A-17C73A8B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825496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audiences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8749E41-3CC6-4312-8A3D-67D73310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3255263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3C6178F-50A9-4ADE-BE03-495F8273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65576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1D0D0D9-3FF8-4389-AF62-9C408D1D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493008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E03DAED-7338-4F99-A040-5E197ED6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45643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Assess content quality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6875E9E-151A-4765-8C57-B6BD5A46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3886200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879E984-35D6-430A-BED6-73EFE908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96511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DEF6E09-43B5-4B06-8371-1E1157E5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239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8CF58F9-E34B-4CA5-8DC8-E6300992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087368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 performance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339D883F-3685-4FDF-8CA5-62E02EBE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4517136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DB6CD327-3FD7-4FBA-B679-B65864CB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27448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BC4441E2-8F1E-420D-8881-20F467E9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2FA69C3E-ED9F-4375-B435-5BB9A96A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718304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Build the roadmap</a:t>
            </a: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EEA343C-76F3-458C-A0D8-D5F503B2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" y="5148072"/>
            <a:ext cx="36576" cy="2103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1E30D9A4-1DF9-4E9D-9691-4A0A0A8C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58383"/>
            <a:ext cx="420624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59AE963-C4C0-4386-87A1-C3291642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8581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F8CFE552-7789-4C08-8654-5856B782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349240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Publish, track, improve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078EB179-EF8E-4F63-B5FF-D0CA4BE8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65960"/>
            <a:ext cx="448056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 i="0">
                <a:solidFill>
                  <a:srgbClr val="D1DBE4"/>
                </a:solidFill>
                <a:latin typeface="Aptos"/>
                <a:ea typeface="Aptos"/>
                <a:cs typeface="Aptos"/>
              </a:rPr>
              <a:t>Begin with the business and customer problem. Choose tools only after the team understands the work.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8241659-D442-4B41-A98E-563BE38A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968885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45F1A26-8A27-4952-A146-0C60665D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E6114E-DA03-4C1C-BF2F-B265D876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22B50B-42FA-46BF-AEFE-963C4249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Business context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878748C-F418-43B6-822F-552A16E2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Content priorities should reflect how the organization creates value and where customers struggle.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0CFF214-0EA6-4C2E-AD66-3C61D5A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F198D65-7F1E-466D-89AD-BE7B00A1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30E3E4B-46DD-4893-A914-818FD851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Internal context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4811DEA-8515-4AC9-A983-4BDB73F7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products and services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revenue and cost pressures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strategic priorities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operating constraints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BF344A8-05DD-4E28-9F3D-98EBF146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External context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AF43136-D0A4-4594-BC85-1531F12E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customer expectations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competitive alternatives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market and regulatory shifts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channel behavior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D819844-DD2E-4856-AB8E-A6EF00ED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926903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AE01FE-0F66-4E0E-8CC6-FB0FC954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3FADD0-BFE5-41CA-A4EF-E40B975C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156005F-0721-43D2-9E63-160DAF55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usable content inventory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CEA0768-F515-4A71-9DD8-13327378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Collect enough detail to make decisions and stop when the patterns are clear.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CC3AFD8-3DB0-4EA7-BEB4-41EB068C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EF947D8-C3D2-443B-B367-604040B0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7008602-13E6-4347-B117-311235E8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2DBBC6C-073D-49BF-A1E5-990CD03C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URL or asset location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owner and audience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format, channel, and lifecycle state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performance data when available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699D13A-E271-4690-A443-C249634F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it to find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0974FB4-1B2F-4A83-B36A-668EAB85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duplication and contradiction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gaps in the customer journey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orphaned or outdated content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high-value reuse candidates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64F9D3D-6995-45DF-BB12-EC0C2C48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7151278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C663C28-1202-411E-BD48-E411A7CD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F686F8C-C6D2-4B08-B056-A5B5EFC1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D4280D9-FFE2-4DF6-A8BD-1F6B8A17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Audience needs and journeys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1F24F3-F999-4AF9-91F3-8874B8A6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A persona becomes useful when it changes a content decision.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EFE30DC-D146-44D5-8E9C-FFFD580A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A664727-4857-4B17-8D48-DAD5D03F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F72B91B-9FE1-4DA2-82AB-2F5A6BC5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Understand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51AAB04-BD20-43A9-9A59-6C8B4A3A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role and responsibility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task or decision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questions and barriers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preferred access point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B5C91FC-1FAD-434A-97AC-1F84B154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Connect to journey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DEA87FD-AFD8-44F0-9267-FD087E12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discover and evaluate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purchase and onboard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use and troubleshoot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adopt and advocate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DC8AAAC-28FA-4B6D-8D36-3BEE8ABF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815786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6F2F9EE-6181-4195-BF91-6494CC41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74703B2-A786-400B-AEA0-3DF8131E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0EF0125-ACF0-49AB-8F5E-37F77918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Content quality and reuse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C6CB943-2FAA-41DE-A874-A433997D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A polished asset can still be inaccurate, hard to find, or difficult to reuse.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E8842B6-FF54-40AD-AEA0-671D23F71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322F092-395B-4551-BEE1-20D69768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86466E-0680-4C68-90AF-F329CAE8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Quality review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3FEC72A-4A4D-4699-AAF6-4AFC6981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accuracy and currency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clarity and organization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findability and metadata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accessibility and usability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40D1967-033A-4D14-879A-ACB32328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Reuse review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B29E6BD-40C2-4AC0-A2C1-60199C1C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source ownership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content granularity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format dependence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rights and lifecycle constraints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FF1AA26-12B3-4F16-9B29-36C2479A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4059810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7C58BD-1828-41E0-923C-CCFA1482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92AA81-88B0-4F96-900A-47D39E2B2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A6BA105-EED9-450C-BB2E-CCE9E4CE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Customer use and team effort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CEA9AF8-9C9D-413C-8096-1856823C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Pair customer data with production data so the team can see what helps and what slows the work.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81C2C4A-114D-4D0D-9EB4-1DAAC7B8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35BE6F8-00FA-410E-9F89-C27A72E0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809148C-5038-4CA9-99EA-B83AC8A9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Customer signals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6A7744-F7C4-46D9-934F-0C18B2FC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views, search, and completion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downloads and engagement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support deflection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task success and feedback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5F262C-2534-4473-9233-C1936872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signals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C2EE32C-F656-4CDF-AC41-A99C8F22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cycle time and rework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review effort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duplicate production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reuse across teams and channels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5317673-AFB6-428C-BEFC-AB470D2C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78496671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33F20B0-EFF4-458C-A7BB-04B33526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A8312F7-177A-4D8F-8E26-4279EDC5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06F4070-5515-4E8A-A859-0305A9FD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The roadmap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3CF6821-8E34-4109-AA3B-33C78441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roadmap connects audience needs with topics, sources, channels, owners, and timing.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A817F17-0E1E-45D5-A9AD-2CEFDC36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A22FC1D-4F67-4ED2-9BFC-443E0DF1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1BC948-9D96-45E5-AA0E-010200F9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Roadmap fields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50D81A-02E2-4F92-9BDF-A3C4731E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topic and purpose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journey stage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source and format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channel and owner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76AC4D7-C9BC-4DB3-80A8-3B30D0E1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criteria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19378CA-5E7F-4179-AE8B-EC79FE20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customer value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reuse potential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risk and dependency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effort and sequencing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800202C-B38B-4B8C-8DC8-C5D88C8B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85591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4C804DE-8EA7-450A-B1DB-EBE769AD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382A0D-8409-4F43-A6EE-56D9D803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  THE SEVEN-STEP METHOD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B22EDD0-D9D3-4067-BDA8-A8D81C99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Launch and follow-up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506A9EA-9623-4EEB-B94D-29FA0193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417320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team begins learning once customers can use the content.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5027739-A1A4-4AFD-86FE-EAC11B71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E0DA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1DCD663-AA80-4AFE-9DB4-BB1F9EFE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267712"/>
            <a:ext cx="5212080" cy="3246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BF84082-9163-490E-BFAA-E94F1C5F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At launch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761DD13-64B9-4147-ABB6-0885451B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confirm ownership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validate links and metadata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connect analytics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document source and version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D32D5E-63F6-4AFC-AFC7-CA0C3A9F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After launch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B8A6EF4-1459-4AF8-B24E-2BF2A027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127248"/>
            <a:ext cx="44805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review performance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retire or revise weak content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capture feedback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feed learning into the next cycle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2441DB5-F2CA-4012-A941-D09614CF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1485595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B20967D-B84F-4CC1-9A3E-F620781E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EEF8A0A-12EA-4203-B02E-B1516F55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84D5E88-CFC0-4CE1-95EB-E78E1C54F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We tested the approach on a product launch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9D7761-DBBD-425C-9C63-277D906E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setting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F17F50A-A163-41BF-856F-B35C4EF7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29968"/>
            <a:ext cx="4754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complex product environment where technical publications, training, rich media, marketing, service, and field teams created content independently.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B46DE8A-D5D5-4A6B-ADBA-6C83481F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44752"/>
            <a:ext cx="5349240" cy="42519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14253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ED06357-2456-4679-9992-DE4B9A23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10512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Pilot objectives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0577802-2507-45DF-963E-3D4F9C45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468880"/>
            <a:ext cx="438912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find overlap in content and effort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agree on requirements for a new product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assign work by expertise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8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FFFFFF"/>
                </a:solidFill>
              </a:rPr>
              <a:t>•  test a process that later launches could use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802D2D-958A-4396-B458-3A30E604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315725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AC234AC-9721-48F7-BFD1-133032F1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894284-FC97-4422-AC3E-920657C2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915B13-D716-4F90-BBCD-FFA68EAA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The audit exposed a 30% reuse opportunity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7910834-7CF2-4C0E-B97A-B1F64939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72768"/>
            <a:ext cx="29260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5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30%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34C3F7-7F04-4A06-BFAA-E7038837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43200"/>
            <a:ext cx="3429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of reviewed content overlapped across teams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66B18D5-9722-402B-A0DA-945B95EA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691640"/>
            <a:ext cx="62179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The team compared source material, finished content, and planned deliverables across functions.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928C184-C412-483C-8BDE-A048B881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743200"/>
            <a:ext cx="5852160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Teams found material they could reuse right away.</a:t>
            </a:r>
          </a:p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Missing content surfaced earlier in the lifecycle.</a:t>
            </a:r>
          </a:p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The audit gave teams a practical way to divide the work.</a:t>
            </a:r>
          </a:p>
          <a:p xmlns:a="http://schemas.openxmlformats.org/drawingml/2006/main">
            <a:pPr>
              <a:spcAft>
                <a:spcPts val="1300"/>
              </a:spcAft>
              <a:buNone/>
              <a:defRPr sz="1800">
                <a:solidFill>
                  <a:srgbClr val="222D38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222D38"/>
                </a:solidFill>
              </a:rPr>
              <a:t>•  The same method could be used on later launches.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90E42D-3DBB-4847-A31B-EC8FE24EE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349240"/>
            <a:ext cx="106070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audit moved the discussion from document ownership to responsibility for the source information.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06FB9E-D3F1-4485-B07B-B8BC484B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1525539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4A53AF2-6F40-46B2-A47D-1D300172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E1A834-F128-472F-92DE-71A49A6A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A08159E-4DC9-45FE-ACF9-F6E95F80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stakeholder map showed who had to be involved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50EC16A-8C5D-4408-AB3A-B0345FDA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A082858-E6B1-4613-BD97-5960BA3C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Business direction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FC27C9-1E4B-4547-A5B7-E3FAF8C8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Product management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Product marketing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Subject-matter experts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C59B971-6DF9-4075-9B40-E225E3AE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300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A26552F-93BC-42B9-99DD-CC058D56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Content creation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EAFE4AB-D7BC-4750-96DB-9607F9D1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Technical publications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Customer education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Instructional design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5470BF8-78C0-4A99-B825-B7A5338A9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258CE9-F24E-40C2-BDEE-4F8C28C5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Experience delivery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687FEBB-ABCB-475D-B301-ED37C7D8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Customer support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Field service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Sales enablement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8CB29DE-C789-4AE0-8A2A-30029C01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572768"/>
            <a:ext cx="2514600" cy="4206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7EEC59F-1706-453B-BFF5-D892BCFC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1874519"/>
            <a:ext cx="20574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Platform and assets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B7FC71D-51D6-4D41-A0F1-9BF14428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2834640"/>
            <a:ext cx="2057400" cy="2011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rIns="0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IT and CMS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CAD and mechanical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500">
                <a:solidFill>
                  <a:srgbClr val="CEDAE3"/>
                </a:solidFill>
                <a:latin typeface="Aptos"/>
                <a:ea typeface="Aptos"/>
                <a:cs typeface="Aptos"/>
              </a:defRPr>
            </a:pPr>
            <a:r>
              <a:rPr>
                <a:solidFill>
                  <a:srgbClr val="CEDAE3"/>
                </a:solidFill>
              </a:rPr>
              <a:t>•  Rich media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0144323-D1A1-497E-82EA-C8B71174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8370121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B614A95-1014-4235-9449-9DA8295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A2D291-91CC-4C3D-8265-563A03F4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D469FC8-D9D9-4057-99D9-E8BA0B27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simple process replaced informal handoffs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DEB0916-0695-458E-BCD5-E90415D9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08A5DBF-8C3F-41C4-B97F-CD3DCDA1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815516-6EBC-432E-89CE-B5DB5582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Align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3A9A38-20DF-4F2A-818A-8139BBC3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Common kickoff and agreed requirements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11A5729-7551-4FA2-A3A3-9A13CFD1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295C9F0-1D04-437E-A001-0F37CD15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0A2087D-F401-407E-956B-D9BEE96C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707128A-B0A1-4F99-9855-A72817DF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Identify source materials and owners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D814108-9335-41EB-BDED-F31A6B0C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226983C-B8ED-4298-9B0B-A24C26B7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192EE75-0708-4C91-9F14-D161EA63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Create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F7C9373-A168-4D30-AC7C-B88E4C97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Assign work by expertise and reuse potential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4EF6F06-9227-47FE-9BFE-15695850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49F622B-B3FA-4100-8C2A-90C027A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995593D-703A-4968-954F-E57A8068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9672D3F-CF27-4DBF-A87C-DADA3114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Coordinate review across affected teams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CFBD086-2723-4DAD-9F1B-C3B9D2A5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59" y="1828800"/>
            <a:ext cx="2029968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BD4C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059C7C2-2944-4C2E-9D94-AD52ECC1E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39" y="2029968"/>
            <a:ext cx="365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1736424-00B5-4F3F-841B-5C83E673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39" y="2542032"/>
            <a:ext cx="1645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Learn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71B9105-73E9-4DCE-BD0D-AED4C4C2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39" y="3182112"/>
            <a:ext cx="16459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4F5E6C"/>
                </a:solidFill>
                <a:latin typeface="Aptos"/>
                <a:ea typeface="Aptos"/>
                <a:cs typeface="Aptos"/>
              </a:rPr>
              <a:t>Track results and improve the next release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C5166C23-C40A-4DA2-BD51-0C1215F4E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13832"/>
            <a:ext cx="106984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Weekly meetings kept dependencies visible. Executive sponsors settled ownership and tool decisions when the teams reached an impasse.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F426AF4F-A2B9-4B6B-954C-58CDFD98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6461418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49E6C57-58B1-4F47-9F7D-FABF2E1B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BCD440D-E889-4AB1-A272-F05C8C4E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56EC69B-1884-41FF-9BF9-943259FF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One approved topic can support many formats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C61FB06-4A94-415B-A84F-7908AA25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8568"/>
            <a:ext cx="2057400" cy="960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F6836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ACCD93-065B-4B3E-9EED-50D0B477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95728"/>
            <a:ext cx="16916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 i="0">
                <a:solidFill>
                  <a:srgbClr val="0C1826"/>
                </a:solidFill>
                <a:latin typeface="Aptos"/>
                <a:ea typeface="Aptos"/>
                <a:cs typeface="Aptos"/>
              </a:rPr>
              <a:t>Approved
source topic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DC81B84-FF24-404E-9D18-346A07AF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50876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9CEEFD9-A7FF-46D6-8455-7F98D641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1664207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User manual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10C009-CC98-4466-87F9-FBB10585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27432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6A1C699-4923-440B-9E3D-8AA02619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876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C84287F-19DE-46C4-AC45-8C99F043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1664207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Tutorial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1EC20200-4103-492A-A2AE-687DD1B5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7432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58EAFF06-7E60-46F7-B671-817ACDB6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150876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CDDBE61-4E7C-474A-8E44-92F8EADD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007" y="1664207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Pre-sales training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BBECF91-3412-4A8E-A5A8-F497EFCA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432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527F8C3-845F-434B-AF87-EA11B4EC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16052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D181E24-0284-4231-A296-160604F4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7328" y="4315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eLearning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FCE84E0-E310-40F8-A489-26B4ACEC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4290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48FFABF6-21EB-4850-B977-2E0DFB5C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052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C6FF7FA-B6DE-4BB3-A206-36B4BC1B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0528" y="4315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Field training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A0C5DD48-9999-4F51-B431-3BB9F7E2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4290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61F7D876-78A5-46DB-9414-3F5131A6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160520"/>
            <a:ext cx="1965960" cy="777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2882489-D431-4DBA-88C5-98867D64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007" y="4315968"/>
            <a:ext cx="1737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Interactive manual</a:t>
            </a: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DBB897CD-5D99-478C-B387-8CA25EF07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429000"/>
            <a:ext cx="32004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87B8E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BAF74B29-96F8-4E7C-BAEB-ABB8DC79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880360"/>
            <a:ext cx="7223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000" b="1" i="0">
                <a:solidFill>
                  <a:srgbClr val="CAD7E0"/>
                </a:solidFill>
                <a:latin typeface="Aptos"/>
                <a:ea typeface="Aptos"/>
                <a:cs typeface="Aptos"/>
              </a:rPr>
              <a:t>Reuse works when the source can be updated in pieces and adapted without rewriting the facts.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A8AFFFD-E66F-4939-9BAE-BEF814B0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65338812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E00AC5-6694-4236-8A49-78A46333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257BDA0-A84B-4054-BF78-9D4EDEDC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  THE PRODUCT LAUNCH PILOT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096A5C-B0CD-4A9A-A9AE-EEB83799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What changed after the pilot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8B96993-E6C6-4A5C-817B-538C3109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F6A08D-2A06-4A28-807C-FE271D54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7190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Clarity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EB6268E-CC98-4D0D-9130-F8256DE2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2677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Teams could see overlap, gaps, and dependencies.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34D97AB-31A5-4F66-8B69-1E16A619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7" y="17373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3A6968B-392B-4E1F-8081-CF5299B3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17190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Capacity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C5D38DA-9CAB-4F60-A7EB-21903FF6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22677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Work moved to the teams best equipped to create and maintain it.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E0615C4-73D6-4B9A-BFD8-A6030C70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947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DA9728-A7C5-452F-9D70-276C41B6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7764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Repeatability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79C0EBD-BAC8-4113-A081-D2EC3195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3251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The audit and planning method could be used on later launches.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03D87B5-9A83-4FCC-A15F-7AB5A01E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7" y="379476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9394F51-8125-4FE3-986B-B69D11ED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3776472"/>
            <a:ext cx="42976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Platform case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E469BDD-8F00-4BA5-B1E8-AD2E9E95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4325112"/>
            <a:ext cx="4343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 i="0">
                <a:solidFill>
                  <a:srgbClr val="4C5B69"/>
                </a:solidFill>
                <a:latin typeface="Aptos"/>
                <a:ea typeface="Aptos"/>
                <a:cs typeface="Aptos"/>
              </a:rPr>
              <a:t>The findings supported a broader CMS and collaboration initiative.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6F425DA-EB7A-49DF-BCAB-CD7E7812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698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The pilot gave teams a repeatable way to make decisions together.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FB0D95D-5DB0-49E7-8E14-0C63296F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82678250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2B1A9ED-FC59-4A40-A6FC-A64E5E8DE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41941E-FA72-4440-8BC6-EC4C55E3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  LESSONS AND NEXT STEPS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B461E65-C414-48BC-8705-DFDCD456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Four lessons from the pilot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3B76F853-EB3C-4D96-A382-2DD22C0C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3619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CF68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FDE3EA1-D7BB-425E-A5C1-D52F6453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179222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Ownership affects adoption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2BFA4E-D1EA-4A65-B151-D2BEDBD1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32257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People respond to changes in tools, control, and recognition.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C935EB2-B19B-4D12-8B38-CB6DA6B0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53619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7BC5A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EAEEB6-6C09-4D1B-AD05-8E4275DF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79222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the process easy to enter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DB633F-CDD5-43BA-9487-79C5F6EF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232257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Occasional contributors need clear templates and support.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CCA57C6-A977-45C3-9278-69214FF7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503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E4AE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67BF18B-C8F5-443C-B52D-2AE387C0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94106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Sponsors remove roadblocks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543E7EE-91A1-4AFB-8B7C-0854C700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7141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Some cross-team decisions need a leader to settle them.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0C0C8C6-0574-4801-91BE-81B97D44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685032"/>
            <a:ext cx="5166360" cy="17190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42537"/>
          </a:solidFill>
          <a:ln xmlns:a="http://schemas.openxmlformats.org/drawingml/2006/main">
            <a:solidFill>
              <a:srgbClr val="687B8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E6BDF4A-7AA2-416F-B2B1-B46F7753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3941064"/>
            <a:ext cx="4617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Use the same measures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6DFA8AB-8A6F-46B5-AB44-89C2D2B1A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4471416"/>
            <a:ext cx="4617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Customer results and team effort help resolve format debates.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ADBECD7-E8C9-48CB-8938-BD9EE42F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57120020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B936C5-7EE2-41BF-8DC5-5411D391B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B"/>
          </a:solidFill>
          <a:ln xmlns:a="http://schemas.openxmlformats.org/drawingml/2006/main">
            <a:solidFill>
              <a:srgbClr val="F6F2E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007A6F-FBD9-4689-95B3-19244990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  LESSONS AND NEXT STEPS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C51666-B1D2-4A27-8153-219CA0D0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858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A 90-day starting plan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2E27CBA-153B-4F81-A8CB-C4CDFBC0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37360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Days 1–30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18AA8DC-5476-4D08-9237-BC89E34D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31720"/>
            <a:ext cx="3246120" cy="2240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AD3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CC77253-DDB8-46BC-8C8A-E9AF195B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2743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Choose one difficult customer journey. Map the teams, content, owners, and measures.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5488B9B-A4AA-4F5A-AE93-886F8ED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1737360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C55F191F-803C-4128-9A83-C354DFDA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128" y="2331720"/>
            <a:ext cx="3246120" cy="2240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AD3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C57F7E-2F2B-4206-838F-5F913F17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651760"/>
            <a:ext cx="2743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Run a cross-functional audit. Identify reuse, gaps, and ownership.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893F19F-B5A0-4CD8-8072-84D24224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737360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4AE3F0C-E883-4B24-A68D-1B556F3C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331720"/>
            <a:ext cx="3246120" cy="2240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AD3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CF1926C-09EA-4152-989B-7FBA2E6A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651760"/>
            <a:ext cx="274320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Test the requirements and workflow. Measure cycle time, rework, and reuse.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845C46A-91D8-41A6-9C63-78F0FE94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9240"/>
            <a:ext cx="10698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300" b="1" i="0">
                <a:solidFill>
                  <a:srgbClr val="222D38"/>
                </a:solidFill>
                <a:latin typeface="Aptos"/>
                <a:ea typeface="Aptos"/>
                <a:cs typeface="Aptos"/>
              </a:rPr>
              <a:t>Start where coordination pain and customer value are both visible.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48CF9FA-0CE5-41ED-88C7-129E7398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7527381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B3A1D9-5997-4848-998A-FACA7A28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826"/>
          </a:solidFill>
          <a:ln xmlns:a="http://schemas.openxmlformats.org/drawingml/2006/main">
            <a:solidFill>
              <a:srgbClr val="0C182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B778D5-7349-49ED-B2E6-164EF52B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9808"/>
            <a:ext cx="5029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CF6836"/>
                </a:solidFill>
                <a:latin typeface="Aptos"/>
                <a:ea typeface="Aptos"/>
                <a:cs typeface="Aptos"/>
              </a:rPr>
              <a:t>04  LESSONS AND NEXT STEPS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3AEDA-7BB4-423D-B2BC-5C045FE3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8760"/>
            <a:ext cx="1024128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Start with one customer journey.
Find the overlap and agree on ownership.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0E41409-14DF-4612-B7AF-8966026D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37560"/>
            <a:ext cx="896112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0" i="0">
                <a:solidFill>
                  <a:srgbClr val="C6D4DE"/>
                </a:solidFill>
                <a:latin typeface="Aptos"/>
                <a:ea typeface="Aptos"/>
                <a:cs typeface="Aptos"/>
              </a:rPr>
              <a:t>Test the process with a small group. Track repeated work, review time, reuse, and customer results.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470D24-D590-417B-9880-1E7D3B54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87568"/>
            <a:ext cx="27432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472BB8B-6069-47A2-8FD0-CABEC6D3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2840" y="6446520"/>
            <a:ext cx="320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000" b="1" i="0">
                <a:solidFill>
                  <a:srgbClr val="687B8E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193086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2026-09-20T23:19:39.3490000Z</dcterms:created>
  <dcterms:modified xsi:type="dcterms:W3CDTF">2026-09-20T23:19:39.3490000Z</dcterms:modified>
</coreProperties>
</file>